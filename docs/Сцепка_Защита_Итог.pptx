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98" r:id="rId67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4" r:id="rId63"/>
    <p:sldId id="395" r:id="rId64"/>
    <p:sldId id="399" r:id="rId68"/>
    <p:sldId id="396" r:id="rId65"/>
    <p:sldId id="397" r:id="rId6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40" Type="http://schemas.openxmlformats.org/officeDocument/2006/relationships/handoutMaster" Target="handoutMasters/handoutMaster1.xml"/><Relationship Id="rId44" Type="http://schemas.openxmlformats.org/officeDocument/2006/relationships/tableStyles" Target="tableStyles.xml"/><Relationship Id="rId43" Type="http://schemas.openxmlformats.org/officeDocument/2006/relationships/theme" Target="theme/theme1.xml"/>  <Relationship Id="rId45" Type="http://schemas.openxmlformats.org/officeDocument/2006/relationships/slide" Target="slides/slide38.xml"/>
  <Relationship Id="rId46" Type="http://schemas.openxmlformats.org/officeDocument/2006/relationships/slide" Target="slides/slide39.xml"/>
  <Relationship Id="rId47" Type="http://schemas.openxmlformats.org/officeDocument/2006/relationships/slide" Target="slides/slide40.xml"/>
  <Relationship Id="rId48" Type="http://schemas.openxmlformats.org/officeDocument/2006/relationships/slide" Target="slides/slide41.xml"/>
  <Relationship Id="rId49" Type="http://schemas.openxmlformats.org/officeDocument/2006/relationships/slide" Target="slides/slide42.xml"/>
  <Relationship Id="rId50" Type="http://schemas.openxmlformats.org/officeDocument/2006/relationships/slide" Target="slides/slide43.xml"/>
  <Relationship Id="rId51" Type="http://schemas.openxmlformats.org/officeDocument/2006/relationships/slide" Target="slides/slide44.xml"/>
  <Relationship Id="rId52" Type="http://schemas.openxmlformats.org/officeDocument/2006/relationships/slide" Target="slides/slide45.xml"/>
  <Relationship Id="rId53" Type="http://schemas.openxmlformats.org/officeDocument/2006/relationships/slide" Target="slides/slide46.xml"/>
  <Relationship Id="rId54" Type="http://schemas.openxmlformats.org/officeDocument/2006/relationships/slide" Target="slides/slide47.xml"/>
  <Relationship Id="rId55" Type="http://schemas.openxmlformats.org/officeDocument/2006/relationships/slide" Target="slides/slide48.xml"/>
  <Relationship Id="rId56" Type="http://schemas.openxmlformats.org/officeDocument/2006/relationships/slide" Target="slides/slide49.xml"/>
  <Relationship Id="rId57" Type="http://schemas.openxmlformats.org/officeDocument/2006/relationships/slide" Target="slides/slide50.xml"/>
  <Relationship Id="rId58" Type="http://schemas.openxmlformats.org/officeDocument/2006/relationships/slide" Target="slides/slide51.xml"/>
  <Relationship Id="rId59" Type="http://schemas.openxmlformats.org/officeDocument/2006/relationships/slide" Target="slides/slide52.xml"/>
  <Relationship Id="rId60" Type="http://schemas.openxmlformats.org/officeDocument/2006/relationships/slide" Target="slides/slide53.xml"/>
  <Relationship Id="rId61" Type="http://schemas.openxmlformats.org/officeDocument/2006/relationships/slide" Target="slides/slide54.xml"/>
  <Relationship Id="rId62" Type="http://schemas.openxmlformats.org/officeDocument/2006/relationships/slide" Target="slides/slide55.xml"/>
  <Relationship Id="rId63" Type="http://schemas.openxmlformats.org/officeDocument/2006/relationships/slide" Target="slides/slide56.xml"/>
  <Relationship Id="rId64" Type="http://schemas.openxmlformats.org/officeDocument/2006/relationships/slide" Target="slides/slide57.xml"/>
  <Relationship Id="rId65" Type="http://schemas.openxmlformats.org/officeDocument/2006/relationships/slide" Target="slides/slide58.xml"/>
  <Relationship Id="rId66" Type="http://schemas.openxmlformats.org/officeDocument/2006/relationships/slide" Target="slides/slide59.xml"/>
  <Relationship Id="rId67" Type="http://schemas.openxmlformats.org/officeDocument/2006/relationships/slide" Target="slides/slide60.xml"/>
  <Relationship Id="rId68" Type="http://schemas.openxmlformats.org/officeDocument/2006/relationships/slide" Target="slides/slide61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38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2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Final2055" Type="http://schemas.openxmlformats.org/officeDocument/2006/relationships/image" Target="../media/scepka-final-employer-dashboard-light.png"/></Relationships>
</file>

<file path=ppt/slides/_rels/slide4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Final2065" Type="http://schemas.openxmlformats.org/officeDocument/2006/relationships/image" Target="../media/scepka-final-assessment-light.png"/></Relationships>
</file>

<file path=ppt/slides/_rels/slide44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4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8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50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Relationship Id="rIdFinal2187" Type="http://schemas.openxmlformats.org/officeDocument/2006/relationships/image" Target="../media/scepka-final-search-cloud-light.png"/><Relationship Id="rIdFinal2188" Type="http://schemas.openxmlformats.org/officeDocument/2006/relationships/image" Target="../media/scepka-final-search-radial-dark.png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Final2219" Type="http://schemas.openxmlformats.org/officeDocument/2006/relationships/image" Target="../media/scepka-final-conversation-light.png"/></Relationships>
</file>

<file path=ppt/slides/_rels/slide5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Relationship Id="rIdFinal2229" Type="http://schemas.openxmlformats.org/officeDocument/2006/relationships/image" Target="../media/scepka-final-applications-light.png"/><Relationship Id="rIdFinal2230" Type="http://schemas.openxmlformats.org/officeDocument/2006/relationships/image" Target="../media/scepka-final-assignment-answer-light.png"/></Relationships>
</file>

<file path=ppt/slides/_rels/slide54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Final2240" Type="http://schemas.openxmlformats.org/officeDocument/2006/relationships/image" Target="../media/scepka-final-fsp-light.png"/></Relationships>
</file>

<file path=ppt/slides/_rels/slide55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6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5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9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2001" name="Текст 2001"/>
          <p:cNvSpPr txBox="1"/>
          <p:nvPr/>
        </p:nvSpPr>
        <p:spPr>
          <a:xfrm>
            <a:off x="594360" y="2697480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6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Сцепка</a:t>
            </a:r>
            <a:endParaRPr lang="ru-RU" sz="6400"/>
          </a:p>
        </p:txBody>
      </p:sp>
      <p:sp>
        <p:nvSpPr>
          <p:cNvPr id="2002" name="Текст 2002"/>
          <p:cNvSpPr txBox="1"/>
          <p:nvPr/>
        </p:nvSpPr>
        <p:spPr>
          <a:xfrm>
            <a:off x="594360" y="3858768"/>
            <a:ext cx="580644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Подтверждённая категория кандидата → предложение работодателя</a:t>
            </a:r>
            <a:endParaRPr lang="ru-RU" sz="2500"/>
          </a:p>
        </p:txBody>
      </p:sp>
      <p:sp>
        <p:nvSpPr>
          <p:cNvPr id="2003" name="Текст 2003"/>
          <p:cNvSpPr txBox="1"/>
          <p:nvPr/>
        </p:nvSpPr>
        <p:spPr>
          <a:xfrm>
            <a:off x="594360" y="5504688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Цифровая платформа подбора ИТ-специалистов</a:t>
            </a:r>
            <a:endParaRPr lang="ru-RU" sz="15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Специальный трек ФСП · ЛЦТ 2026</a:t>
            </a:r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Текст 2004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</a:t>
            </a:r>
            <a:endParaRPr lang="ru-RU" sz="1000"/>
          </a:p>
        </p:txBody>
      </p:sp>
      <p:sp>
        <p:nvSpPr>
          <p:cNvPr id="2005" name="Текст 2005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проекта</a:t>
            </a:r>
            <a:endParaRPr lang="ru-RU" sz="3000"/>
          </a:p>
        </p:txBody>
      </p:sp>
      <p:sp>
        <p:nvSpPr>
          <p:cNvPr id="2006" name="Текст 2006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Идеи, бэкенд и машинное обучение</a:t>
            </a:r>
            <a:endParaRPr lang="ru-RU" sz="1600"/>
          </a:p>
        </p:txBody>
      </p:sp>
      <p:sp>
        <p:nvSpPr>
          <p:cNvPr id="2007" name="Текст 2007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/>
            </a:r>
            <a:endParaRPr lang="ru-RU" sz="1000"/>
          </a:p>
        </p:txBody>
      </p:sp>
      <p:sp>
        <p:nvSpPr>
          <p:cNvPr id="2008" name="Текст 2008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</a:t>
            </a:r>
            <a:endParaRPr lang="ru-RU" sz="1100"/>
          </a:p>
        </p:txBody>
      </p:sp>
      <p:sp>
        <p:nvSpPr>
          <p:cNvPr id="2009" name="Блок 2009"/>
          <p:cNvSpPr/>
          <p:nvPr/>
        </p:nvSpPr>
        <p:spPr>
          <a:xfrm>
            <a:off x="548640" y="2331720"/>
            <a:ext cx="5367528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10" name="Текст 2010"/>
          <p:cNvSpPr txBox="1"/>
          <p:nvPr/>
        </p:nvSpPr>
        <p:spPr>
          <a:xfrm>
            <a:off x="758952" y="2514600"/>
            <a:ext cx="4946904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Лещенко Илья Федорович</a:t>
            </a:r>
            <a:endParaRPr lang="ru-RU" sz="2200"/>
          </a:p>
        </p:txBody>
      </p:sp>
      <p:sp>
        <p:nvSpPr>
          <p:cNvPr id="2011" name="Текст 2011"/>
          <p:cNvSpPr txBox="1"/>
          <p:nvPr/>
        </p:nvSpPr>
        <p:spPr>
          <a:xfrm>
            <a:off x="758952" y="2991358"/>
            <a:ext cx="4946904" cy="8674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Генератор идей</a:t>
            </a:r>
            <a:endParaRPr lang="ru-RU" sz="2000"/>
          </a:p>
        </p:txBody>
      </p:sp>
      <p:sp>
        <p:nvSpPr>
          <p:cNvPr id="2012" name="Блок 2012"/>
          <p:cNvSpPr/>
          <p:nvPr/>
        </p:nvSpPr>
        <p:spPr>
          <a:xfrm>
            <a:off x="6236208" y="2331720"/>
            <a:ext cx="5367528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13" name="Текст 2013"/>
          <p:cNvSpPr txBox="1"/>
          <p:nvPr/>
        </p:nvSpPr>
        <p:spPr>
          <a:xfrm>
            <a:off x="6446520" y="2514600"/>
            <a:ext cx="4946904" cy="66827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Бикмансуров Даниил Рустамович</a:t>
            </a:r>
            <a:endParaRPr lang="ru-RU" sz="2100"/>
          </a:p>
        </p:txBody>
      </p:sp>
      <p:sp>
        <p:nvSpPr>
          <p:cNvPr id="2014" name="Текст 2014"/>
          <p:cNvSpPr txBox="1"/>
          <p:nvPr/>
        </p:nvSpPr>
        <p:spPr>
          <a:xfrm>
            <a:off x="6446520" y="3283458"/>
            <a:ext cx="4946904" cy="5753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Бэкенд-разработчик</a:t>
            </a:r>
            <a:endParaRPr lang="ru-RU" sz="2000"/>
          </a:p>
        </p:txBody>
      </p:sp>
      <p:sp>
        <p:nvSpPr>
          <p:cNvPr id="2015" name="Блок 2015"/>
          <p:cNvSpPr/>
          <p:nvPr/>
        </p:nvSpPr>
        <p:spPr>
          <a:xfrm>
            <a:off x="548640" y="4325112"/>
            <a:ext cx="5367528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16" name="Текст 2016"/>
          <p:cNvSpPr txBox="1"/>
          <p:nvPr/>
        </p:nvSpPr>
        <p:spPr>
          <a:xfrm>
            <a:off x="758952" y="4507992"/>
            <a:ext cx="4946904" cy="639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Шолохов Владислав Александрович</a:t>
            </a:r>
            <a:endParaRPr lang="ru-RU" sz="2000"/>
          </a:p>
        </p:txBody>
      </p:sp>
      <p:sp>
        <p:nvSpPr>
          <p:cNvPr id="2017" name="Текст 2017"/>
          <p:cNvSpPr txBox="1"/>
          <p:nvPr/>
        </p:nvSpPr>
        <p:spPr>
          <a:xfrm>
            <a:off x="758952" y="5247640"/>
            <a:ext cx="4946904" cy="604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ML-инженер</a:t>
            </a:r>
            <a:endParaRPr lang="ru-RU" sz="2000"/>
          </a:p>
        </p:txBody>
      </p:sp>
      <p:sp>
        <p:nvSpPr>
          <p:cNvPr id="2018" name="Блок 2018"/>
          <p:cNvSpPr/>
          <p:nvPr/>
        </p:nvSpPr>
        <p:spPr>
          <a:xfrm>
            <a:off x="6236208" y="4325112"/>
            <a:ext cx="5367528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19" name="Текст 2019"/>
          <p:cNvSpPr txBox="1"/>
          <p:nvPr/>
        </p:nvSpPr>
        <p:spPr>
          <a:xfrm>
            <a:off x="6446520" y="4507992"/>
            <a:ext cx="4946904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Уфаев Евгений Сергеевич</a:t>
            </a:r>
            <a:endParaRPr lang="ru-RU" sz="2200"/>
          </a:p>
        </p:txBody>
      </p:sp>
      <p:sp>
        <p:nvSpPr>
          <p:cNvPr id="2020" name="Текст 2020"/>
          <p:cNvSpPr txBox="1"/>
          <p:nvPr/>
        </p:nvSpPr>
        <p:spPr>
          <a:xfrm>
            <a:off x="6446520" y="4984750"/>
            <a:ext cx="4946904" cy="8674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Аналитик данных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Текст 2021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СУТЬ РЕШЕНИЯ</a:t>
            </a:r>
            <a:endParaRPr lang="ru-RU" sz="1000"/>
          </a:p>
        </p:txBody>
      </p:sp>
      <p:sp>
        <p:nvSpPr>
          <p:cNvPr id="2022" name="Текст 2022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От резюме — к предложению с условиями</a:t>
            </a:r>
            <a:endParaRPr lang="ru-RU" sz="3000"/>
          </a:p>
        </p:txBody>
      </p:sp>
      <p:sp>
        <p:nvSpPr>
          <p:cNvPr id="2023" name="Текст 2023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Практическое подтверждение навыков связывает два кабинета</a:t>
            </a:r>
            <a:endParaRPr lang="ru-RU" sz="1600"/>
          </a:p>
        </p:txBody>
      </p:sp>
      <p:sp>
        <p:nvSpPr>
          <p:cNvPr id="2024" name="Текст 2024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/>
            </a:r>
            <a:endParaRPr lang="ru-RU" sz="1000"/>
          </a:p>
        </p:txBody>
      </p:sp>
      <p:sp>
        <p:nvSpPr>
          <p:cNvPr id="2025" name="Текст 2025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</a:t>
            </a:r>
            <a:endParaRPr lang="ru-RU" sz="1100"/>
          </a:p>
        </p:txBody>
      </p:sp>
      <p:sp>
        <p:nvSpPr>
          <p:cNvPr id="2026" name="Блок 2026"/>
          <p:cNvSpPr/>
          <p:nvPr/>
        </p:nvSpPr>
        <p:spPr>
          <a:xfrm>
            <a:off x="548640" y="2331720"/>
            <a:ext cx="537210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27" name="Текст 2027"/>
          <p:cNvSpPr txBox="1"/>
          <p:nvPr/>
        </p:nvSpPr>
        <p:spPr>
          <a:xfrm>
            <a:off x="758952" y="2514600"/>
            <a:ext cx="495147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Кандидат</a:t>
            </a:r>
            <a:endParaRPr lang="ru-RU" sz="2200"/>
          </a:p>
        </p:txBody>
      </p:sp>
      <p:sp>
        <p:nvSpPr>
          <p:cNvPr id="2028" name="Текст 2028"/>
          <p:cNvSpPr txBox="1"/>
          <p:nvPr/>
        </p:nvSpPr>
        <p:spPr>
          <a:xfrm>
            <a:off x="758952" y="2991358"/>
            <a:ext cx="495147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Заполняет профиль и проходит опрос</a:t>
            </a:r>
            <a:endParaRPr lang="ru-RU" sz="20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Выбирает предполагаемый грейд и проходит тест</a:t>
            </a:r>
            <a:endParaRPr lang="ru-RU" sz="20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Получает предложения с зарплатой и обсуждает условия</a:t>
            </a:r>
            <a:endParaRPr lang="ru-RU" sz="2000"/>
          </a:p>
        </p:txBody>
      </p:sp>
      <p:sp>
        <p:nvSpPr>
          <p:cNvPr id="2029" name="Блок 2029"/>
          <p:cNvSpPr/>
          <p:nvPr/>
        </p:nvSpPr>
        <p:spPr>
          <a:xfrm>
            <a:off x="6240779" y="2331720"/>
            <a:ext cx="537210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30" name="Текст 2030"/>
          <p:cNvSpPr txBox="1"/>
          <p:nvPr/>
        </p:nvSpPr>
        <p:spPr>
          <a:xfrm>
            <a:off x="6451092" y="2514600"/>
            <a:ext cx="495147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Работодатель</a:t>
            </a:r>
            <a:endParaRPr lang="ru-RU" sz="2200"/>
          </a:p>
        </p:txBody>
      </p:sp>
      <p:sp>
        <p:nvSpPr>
          <p:cNvPr id="2031" name="Текст 2031"/>
          <p:cNvSpPr txBox="1"/>
          <p:nvPr/>
        </p:nvSpPr>
        <p:spPr>
          <a:xfrm>
            <a:off x="6451092" y="2991358"/>
            <a:ext cx="495147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Описывает потребность команды</a:t>
            </a:r>
            <a:endParaRPr lang="ru-RU" sz="20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Изучает подборку, доказательства и причины соответствия</a:t>
            </a:r>
            <a:endParaRPr lang="ru-RU" sz="20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Первым отправляет приглашение конкретному кандидату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Текст 2032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ПРИНЯТЫЕ РЕШЕНИЯ</a:t>
            </a:r>
            <a:endParaRPr lang="ru-RU" sz="1000"/>
          </a:p>
        </p:txBody>
      </p:sp>
      <p:sp>
        <p:nvSpPr>
          <p:cNvPr id="2033" name="Текст 2033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Сложности, которые определили решение</a:t>
            </a:r>
            <a:endParaRPr lang="ru-RU" sz="3000"/>
          </a:p>
        </p:txBody>
      </p:sp>
      <p:sp>
        <p:nvSpPr>
          <p:cNvPr id="2034" name="Текст 2034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Качество модели и надёжность сценария проверяем отдельно</a:t>
            </a:r>
            <a:endParaRPr lang="ru-RU" sz="1600"/>
          </a:p>
        </p:txBody>
      </p:sp>
      <p:sp>
        <p:nvSpPr>
          <p:cNvPr id="2035" name="Текст 203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Источники: docs/taskgen/validation.md; docs/api/architecture.md</a:t>
            </a:r>
            <a:endParaRPr lang="ru-RU" sz="1000"/>
          </a:p>
        </p:txBody>
      </p:sp>
      <p:sp>
        <p:nvSpPr>
          <p:cNvPr id="2036" name="Текст 2036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04</a:t>
            </a:r>
            <a:endParaRPr lang="ru-RU" sz="1100"/>
          </a:p>
        </p:txBody>
      </p:sp>
      <p:sp>
        <p:nvSpPr>
          <p:cNvPr id="2037" name="Блок 2037"/>
          <p:cNvSpPr/>
          <p:nvPr/>
        </p:nvSpPr>
        <p:spPr>
          <a:xfrm>
            <a:off x="54864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38" name="Текст 2038"/>
          <p:cNvSpPr txBox="1"/>
          <p:nvPr/>
        </p:nvSpPr>
        <p:spPr>
          <a:xfrm>
            <a:off x="758952" y="2514600"/>
            <a:ext cx="3054096" cy="6974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Случайные задания</a:t>
            </a:r>
            <a:endParaRPr lang="ru-RU" sz="2200"/>
          </a:p>
        </p:txBody>
      </p:sp>
      <p:sp>
        <p:nvSpPr>
          <p:cNvPr id="2039" name="Текст 2039"/>
          <p:cNvSpPr txBox="1"/>
          <p:nvPr/>
        </p:nvSpPr>
        <p:spPr>
          <a:xfrm>
            <a:off x="758952" y="3312667"/>
            <a:ext cx="3054096" cy="2649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Риск: сложность и критерии меняются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Решение: банк человека фиксирует требования; код выбирает параметры</a:t>
            </a:r>
            <a:endParaRPr lang="ru-RU" sz="1800"/>
          </a:p>
        </p:txBody>
      </p:sp>
      <p:sp>
        <p:nvSpPr>
          <p:cNvPr id="2040" name="Блок 2040"/>
          <p:cNvSpPr/>
          <p:nvPr/>
        </p:nvSpPr>
        <p:spPr>
          <a:xfrm>
            <a:off x="434340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41" name="Текст 2041"/>
          <p:cNvSpPr txBox="1"/>
          <p:nvPr/>
        </p:nvSpPr>
        <p:spPr>
          <a:xfrm>
            <a:off x="455371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Ошибки модели</a:t>
            </a:r>
            <a:endParaRPr lang="ru-RU" sz="2200"/>
          </a:p>
        </p:txBody>
      </p:sp>
      <p:sp>
        <p:nvSpPr>
          <p:cNvPr id="2042" name="Текст 2042"/>
          <p:cNvSpPr txBox="1"/>
          <p:nvPr/>
        </p:nvSpPr>
        <p:spPr>
          <a:xfrm>
            <a:off x="455371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Риск: потерянный факт или неверный вердикт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Решение: проверка до выдачи, ссылки на ответ, сохранённые доказательства</a:t>
            </a:r>
            <a:endParaRPr lang="ru-RU" sz="1800"/>
          </a:p>
        </p:txBody>
      </p:sp>
      <p:sp>
        <p:nvSpPr>
          <p:cNvPr id="2043" name="Блок 2043"/>
          <p:cNvSpPr/>
          <p:nvPr/>
        </p:nvSpPr>
        <p:spPr>
          <a:xfrm>
            <a:off x="813816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44" name="Текст 2044"/>
          <p:cNvSpPr txBox="1"/>
          <p:nvPr/>
        </p:nvSpPr>
        <p:spPr>
          <a:xfrm>
            <a:off x="834847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Потеря состояния</a:t>
            </a:r>
            <a:endParaRPr lang="ru-RU" sz="2200"/>
          </a:p>
        </p:txBody>
      </p:sp>
      <p:sp>
        <p:nvSpPr>
          <p:cNvPr id="2045" name="Текст 2045"/>
          <p:cNvSpPr txBox="1"/>
          <p:nvPr/>
        </p:nvSpPr>
        <p:spPr>
          <a:xfrm>
            <a:off x="834847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Риск: повторная оценка или скрытые данные в истории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Решение: сохраняемые операции и единые правила видимости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Текст 2046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ПУТЬ РАБОТОДАТЕЛЯ</a:t>
            </a:r>
            <a:endParaRPr lang="ru-RU" sz="1000"/>
          </a:p>
        </p:txBody>
      </p:sp>
      <p:sp>
        <p:nvSpPr>
          <p:cNvPr id="2047" name="Текст 2047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Работодатель инициирует контакт</a:t>
            </a:r>
            <a:endParaRPr lang="ru-RU" sz="3000"/>
          </a:p>
        </p:txBody>
      </p:sp>
      <p:sp>
        <p:nvSpPr>
          <p:cNvPr id="2048" name="Текст 2048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Потребность → подборка → приглашение → обсуждение</a:t>
            </a:r>
            <a:endParaRPr lang="ru-RU" sz="1600"/>
          </a:p>
        </p:txBody>
      </p:sp>
      <p:sp>
        <p:nvSpPr>
          <p:cNvPr id="2049" name="Текст 2049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Источники: docs/matcher/matching-mechanics.md; docs/api/architecture.md · Кадры приложения: синтетические данные</a:t>
            </a:r>
            <a:endParaRPr lang="ru-RU" sz="1000"/>
          </a:p>
        </p:txBody>
      </p:sp>
      <p:sp>
        <p:nvSpPr>
          <p:cNvPr id="2050" name="Текст 2050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05</a:t>
            </a:r>
            <a:endParaRPr lang="ru-RU" sz="1100"/>
          </a:p>
        </p:txBody>
      </p:sp>
      <p:sp>
        <p:nvSpPr>
          <p:cNvPr id="2051" name="Текст 2051"/>
          <p:cNvSpPr txBox="1"/>
          <p:nvPr/>
        </p:nvSpPr>
        <p:spPr>
          <a:xfrm>
            <a:off x="548640" y="24231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  Описывает команду</a:t>
            </a:r>
            <a:endParaRPr lang="ru-RU" sz="2100"/>
          </a:p>
        </p:txBody>
      </p:sp>
      <p:sp>
        <p:nvSpPr>
          <p:cNvPr id="2052" name="Текст 2052"/>
          <p:cNvSpPr txBox="1"/>
          <p:nvPr/>
        </p:nvSpPr>
        <p:spPr>
          <a:xfrm>
            <a:off x="548640" y="2898648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Специализация, грейд, навыки, бюджет и пожелания</a:t>
            </a:r>
            <a:endParaRPr lang="ru-RU" sz="1800"/>
          </a:p>
        </p:txBody>
      </p:sp>
      <p:sp>
        <p:nvSpPr>
          <p:cNvPr id="2053" name="Текст 2053"/>
          <p:cNvSpPr txBox="1"/>
          <p:nvPr/>
        </p:nvSpPr>
        <p:spPr>
          <a:xfrm>
            <a:off x="548640" y="38862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  Выбирает кандидата</a:t>
            </a:r>
            <a:endParaRPr lang="ru-RU" sz="2100"/>
          </a:p>
        </p:txBody>
      </p:sp>
      <p:sp>
        <p:nvSpPr>
          <p:cNvPr id="2054" name="Текст 2054"/>
          <p:cNvSpPr txBox="1"/>
          <p:nvPr/>
        </p:nvSpPr>
        <p:spPr>
          <a:xfrm>
            <a:off x="548640" y="4370832"/>
            <a:ext cx="3383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Сравнивает подтверждённость, факторы и объяснения; уточняет подбор новым прогоном</a:t>
            </a:r>
            <a:endParaRPr lang="ru-RU" sz="1800"/>
          </a:p>
        </p:txBody>
      </p:sp>
      <p:pic>
        <p:nvPicPr>
          <p:cNvPr id="2055" name="employer-dashboard-light.png" descr="Настоящий интерфейс приложения; синтетические данные; фрагмент экрана"/>
          <p:cNvPicPr>
            <a:picLocks noChangeAspect="1"/>
          </p:cNvPicPr>
          <p:nvPr/>
        </p:nvPicPr>
        <p:blipFill>
          <a:blip r:embed="rIdFinal2055"/>
          <a:srcRect l="18055" t="7205" r="1388" b="43154"/>
          <a:stretch>
            <a:fillRect/>
          </a:stretch>
        </p:blipFill>
        <p:spPr>
          <a:xfrm>
            <a:off x="4353428" y="2286000"/>
            <a:ext cx="7185414" cy="3840480"/>
          </a:xfrm>
          <a:prstGeom prst="rect">
            <a:avLst/>
          </a:prstGeom>
          <a:ln w="9525">
            <a:solidFill>
              <a:srgbClr val="8A83D1"/>
            </a:solidFill>
          </a:ln>
        </p:spPr>
      </p:pic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Текст 2056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ПУТЬ КАНДИДАТА</a:t>
            </a:r>
            <a:endParaRPr lang="ru-RU" sz="1000"/>
          </a:p>
        </p:txBody>
      </p:sp>
      <p:sp>
        <p:nvSpPr>
          <p:cNvPr id="2057" name="Текст 2057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Кандидат проходит путь подтверждения</a:t>
            </a:r>
            <a:endParaRPr lang="ru-RU" sz="3000"/>
          </a:p>
        </p:txBody>
      </p:sp>
      <p:sp>
        <p:nvSpPr>
          <p:cNvPr id="2058" name="Текст 2058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Заявленный грейд и категория, подтверждённая тестом, различаются</a:t>
            </a:r>
            <a:endParaRPr lang="ru-RU" sz="1600"/>
          </a:p>
        </p:txBody>
      </p:sp>
      <p:sp>
        <p:nvSpPr>
          <p:cNvPr id="2059" name="Текст 2059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Источники: docs/frontend/architecture.md; docs/taskgen/testing-mechanics.md · Кадры приложения: синтетические данные</a:t>
            </a:r>
            <a:endParaRPr lang="ru-RU" sz="1000"/>
          </a:p>
        </p:txBody>
      </p:sp>
      <p:sp>
        <p:nvSpPr>
          <p:cNvPr id="2060" name="Текст 2060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06</a:t>
            </a:r>
            <a:endParaRPr lang="ru-RU" sz="1100"/>
          </a:p>
        </p:txBody>
      </p:sp>
      <p:sp>
        <p:nvSpPr>
          <p:cNvPr id="2061" name="Текст 2061"/>
          <p:cNvSpPr txBox="1"/>
          <p:nvPr/>
        </p:nvSpPr>
        <p:spPr>
          <a:xfrm>
            <a:off x="548640" y="233172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  Профиль</a:t>
            </a:r>
            <a:endParaRPr lang="ru-RU" sz="2100"/>
          </a:p>
        </p:txBody>
      </p:sp>
      <p:sp>
        <p:nvSpPr>
          <p:cNvPr id="2062" name="Текст 2062"/>
          <p:cNvSpPr txBox="1"/>
          <p:nvPr/>
        </p:nvSpPr>
        <p:spPr>
          <a:xfrm>
            <a:off x="548640" y="2807208"/>
            <a:ext cx="35204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Подтверждение почты; профиль вручную или из PDF с проверкой переноса</a:t>
            </a:r>
            <a:endParaRPr lang="ru-RU" sz="1800"/>
          </a:p>
        </p:txBody>
      </p:sp>
      <p:sp>
        <p:nvSpPr>
          <p:cNvPr id="2063" name="Текст 2063"/>
          <p:cNvSpPr txBox="1"/>
          <p:nvPr/>
        </p:nvSpPr>
        <p:spPr>
          <a:xfrm>
            <a:off x="548640" y="425196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  Опрос и тест</a:t>
            </a:r>
            <a:endParaRPr lang="ru-RU" sz="2100"/>
          </a:p>
        </p:txBody>
      </p:sp>
      <p:sp>
        <p:nvSpPr>
          <p:cNvPr id="2064" name="Текст 2064"/>
          <p:cNvSpPr txBox="1"/>
          <p:nvPr/>
        </p:nvSpPr>
        <p:spPr>
          <a:xfrm>
            <a:off x="548640" y="4736592"/>
            <a:ext cx="352044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Отрасль, специализация и предполагаемый грейд → выданные задания → оценка и история категории</a:t>
            </a:r>
            <a:endParaRPr lang="ru-RU" sz="1800"/>
          </a:p>
        </p:txBody>
      </p:sp>
      <p:pic>
        <p:nvPicPr>
          <p:cNvPr id="2065" name="assessment-light.png" descr="Настоящий интерфейс приложения; синтетические данные; фрагмент экрана"/>
          <p:cNvPicPr>
            <a:picLocks noChangeAspect="1"/>
          </p:cNvPicPr>
          <p:nvPr/>
        </p:nvPicPr>
        <p:blipFill>
          <a:blip r:embed="rIdFinal2065"/>
          <a:srcRect l="19791" t="3957" r="2430" b="67018"/>
          <a:stretch>
            <a:fillRect/>
          </a:stretch>
        </p:blipFill>
        <p:spPr>
          <a:xfrm>
            <a:off x="5234108" y="2286000"/>
            <a:ext cx="5652654" cy="3886200"/>
          </a:xfrm>
          <a:prstGeom prst="rect">
            <a:avLst/>
          </a:prstGeom>
          <a:ln w="9525">
            <a:solidFill>
              <a:srgbClr val="8A83D1"/>
            </a:solidFill>
          </a:ln>
        </p:spPr>
      </p:pic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Текст 2066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МЕХАНИКА ТЕСТИРОВАНИЯ</a:t>
            </a:r>
            <a:endParaRPr lang="ru-RU" sz="1000"/>
          </a:p>
        </p:txBody>
      </p:sp>
      <p:sp>
        <p:nvSpPr>
          <p:cNvPr id="2067" name="Текст 2067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Шаблон задаёт требования; LLM пишет сюжет</a:t>
            </a:r>
            <a:endParaRPr lang="ru-RU" sz="3000"/>
          </a:p>
        </p:txBody>
      </p:sp>
      <p:sp>
        <p:nvSpPr>
          <p:cNvPr id="2068" name="Текст 2068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Параметры и скрытые кейсы не зависят от ответа модели</a:t>
            </a:r>
            <a:endParaRPr lang="ru-RU" sz="1600"/>
          </a:p>
        </p:txBody>
      </p:sp>
      <p:sp>
        <p:nvSpPr>
          <p:cNvPr id="2069" name="Текст 2069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Источник: docs/taskgen/testing-mechanics.md</a:t>
            </a:r>
            <a:endParaRPr lang="ru-RU" sz="1000"/>
          </a:p>
        </p:txBody>
      </p:sp>
      <p:sp>
        <p:nvSpPr>
          <p:cNvPr id="2070" name="Текст 2070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07</a:t>
            </a:r>
            <a:endParaRPr lang="ru-RU" sz="1100"/>
          </a:p>
        </p:txBody>
      </p:sp>
      <p:sp>
        <p:nvSpPr>
          <p:cNvPr id="2071" name="Блок 2071"/>
          <p:cNvSpPr/>
          <p:nvPr/>
        </p:nvSpPr>
        <p:spPr>
          <a:xfrm>
            <a:off x="548640" y="2377440"/>
            <a:ext cx="2436876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72" name="Текст 2072"/>
          <p:cNvSpPr txBox="1"/>
          <p:nvPr/>
        </p:nvSpPr>
        <p:spPr>
          <a:xfrm>
            <a:off x="758952" y="2560320"/>
            <a:ext cx="2016252" cy="639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Банк человека</a:t>
            </a:r>
            <a:endParaRPr lang="ru-RU" sz="2000"/>
          </a:p>
        </p:txBody>
      </p:sp>
      <p:sp>
        <p:nvSpPr>
          <p:cNvPr id="2073" name="Текст 2073"/>
          <p:cNvSpPr txBox="1"/>
          <p:nvPr/>
        </p:nvSpPr>
        <p:spPr>
          <a:xfrm>
            <a:off x="758952" y="3299968"/>
            <a:ext cx="2016252" cy="1546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Грейд, сложность, факты, рубрика, эталон и генератор кейсов</a:t>
            </a:r>
            <a:endParaRPr lang="ru-RU" sz="1600"/>
          </a:p>
        </p:txBody>
      </p:sp>
      <p:sp>
        <p:nvSpPr>
          <p:cNvPr id="2074" name="Переход 2074"/>
          <p:cNvSpPr/>
          <p:nvPr/>
        </p:nvSpPr>
        <p:spPr>
          <a:xfrm>
            <a:off x="3049524" y="3680460"/>
            <a:ext cx="320040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075" name="Блок 2075"/>
          <p:cNvSpPr/>
          <p:nvPr/>
        </p:nvSpPr>
        <p:spPr>
          <a:xfrm>
            <a:off x="3424428" y="2377440"/>
            <a:ext cx="2436876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76" name="Текст 2076"/>
          <p:cNvSpPr txBox="1"/>
          <p:nvPr/>
        </p:nvSpPr>
        <p:spPr>
          <a:xfrm>
            <a:off x="3634740" y="2560320"/>
            <a:ext cx="2016252" cy="3469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Код + seed</a:t>
            </a:r>
            <a:endParaRPr lang="ru-RU" sz="2000"/>
          </a:p>
        </p:txBody>
      </p:sp>
      <p:sp>
        <p:nvSpPr>
          <p:cNvPr id="2077" name="Текст 2077"/>
          <p:cNvSpPr txBox="1"/>
          <p:nvPr/>
        </p:nvSpPr>
        <p:spPr>
          <a:xfrm>
            <a:off x="3634740" y="3007868"/>
            <a:ext cx="2016252" cy="18384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Выбор шаблонов с квотой заявленного уровня; параметры и кейсы</a:t>
            </a:r>
            <a:endParaRPr lang="ru-RU" sz="1600"/>
          </a:p>
        </p:txBody>
      </p:sp>
      <p:sp>
        <p:nvSpPr>
          <p:cNvPr id="2078" name="Переход 2078"/>
          <p:cNvSpPr/>
          <p:nvPr/>
        </p:nvSpPr>
        <p:spPr>
          <a:xfrm>
            <a:off x="5925312" y="3680460"/>
            <a:ext cx="320040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079" name="Блок 2079"/>
          <p:cNvSpPr/>
          <p:nvPr/>
        </p:nvSpPr>
        <p:spPr>
          <a:xfrm>
            <a:off x="6300216" y="2377440"/>
            <a:ext cx="2436876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80" name="Текст 2080"/>
          <p:cNvSpPr txBox="1"/>
          <p:nvPr/>
        </p:nvSpPr>
        <p:spPr>
          <a:xfrm>
            <a:off x="6510528" y="2560320"/>
            <a:ext cx="2016252" cy="3469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Piston</a:t>
            </a:r>
            <a:endParaRPr lang="ru-RU" sz="2000"/>
          </a:p>
        </p:txBody>
      </p:sp>
      <p:sp>
        <p:nvSpPr>
          <p:cNvPr id="2081" name="Текст 2081"/>
          <p:cNvSpPr txBox="1"/>
          <p:nvPr/>
        </p:nvSpPr>
        <p:spPr>
          <a:xfrm>
            <a:off x="6510528" y="3007868"/>
            <a:ext cx="2016252" cy="18384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Эталон проходит все кейсы экземпляра до генерации текста</a:t>
            </a:r>
            <a:endParaRPr lang="ru-RU" sz="1600"/>
          </a:p>
        </p:txBody>
      </p:sp>
      <p:sp>
        <p:nvSpPr>
          <p:cNvPr id="2082" name="Переход 2082"/>
          <p:cNvSpPr/>
          <p:nvPr/>
        </p:nvSpPr>
        <p:spPr>
          <a:xfrm>
            <a:off x="8801100" y="3680460"/>
            <a:ext cx="320040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083" name="Блок 2083"/>
          <p:cNvSpPr/>
          <p:nvPr/>
        </p:nvSpPr>
        <p:spPr>
          <a:xfrm>
            <a:off x="9176004" y="2377440"/>
            <a:ext cx="2436876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84" name="Текст 2084"/>
          <p:cNvSpPr txBox="1"/>
          <p:nvPr/>
        </p:nvSpPr>
        <p:spPr>
          <a:xfrm>
            <a:off x="9386316" y="2560320"/>
            <a:ext cx="2016252" cy="639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LLM и проверки</a:t>
            </a:r>
            <a:endParaRPr lang="ru-RU" sz="2000"/>
          </a:p>
        </p:txBody>
      </p:sp>
      <p:sp>
        <p:nvSpPr>
          <p:cNvPr id="2085" name="Текст 2085"/>
          <p:cNvSpPr txBox="1"/>
          <p:nvPr/>
        </p:nvSpPr>
        <p:spPr>
          <a:xfrm>
            <a:off x="9386316" y="3299968"/>
            <a:ext cx="2016252" cy="1546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Сюжет → проверка текста и фактов → публичное условие</a:t>
            </a:r>
            <a:endParaRPr lang="ru-RU" sz="1600"/>
          </a:p>
        </p:txBody>
      </p:sp>
      <p:sp>
        <p:nvSpPr>
          <p:cNvPr id="2086" name="Блок 2086"/>
          <p:cNvSpPr/>
          <p:nvPr/>
        </p:nvSpPr>
        <p:spPr>
          <a:xfrm>
            <a:off x="548640" y="5349240"/>
            <a:ext cx="11064240" cy="758952"/>
          </a:xfrm>
          <a:prstGeom prst="roundRect">
            <a:avLst>
              <a:gd name="adj" fmla="val 5000"/>
            </a:avLst>
          </a:prstGeom>
          <a:solidFill>
            <a:srgbClr val="FFD6E4"/>
          </a:solidFill>
          <a:ln w="9525">
            <a:solidFill>
              <a:srgbClr val="FFD6E4"/>
            </a:solidFill>
          </a:ln>
        </p:spPr>
      </p:sp>
      <p:sp>
        <p:nvSpPr>
          <p:cNvPr id="2087" name="Текст 2087"/>
          <p:cNvSpPr txBox="1"/>
          <p:nvPr/>
        </p:nvSpPr>
        <p:spPr>
          <a:xfrm>
            <a:off x="786384" y="5541264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Кандидату: условие, сигнатура и примеры. На сервере: скрытые тесты, ключ и эталон</a:t>
            </a:r>
            <a:endParaRPr lang="ru-RU" sz="1700"/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Текст 2088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ОЦЕНКА ОТВЕТА</a:t>
            </a:r>
            <a:endParaRPr lang="ru-RU" sz="1000"/>
          </a:p>
        </p:txBody>
      </p:sp>
      <p:sp>
        <p:nvSpPr>
          <p:cNvPr id="2089" name="Текст 2089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Балл и решённость — разные результаты</a:t>
            </a:r>
            <a:endParaRPr lang="ru-RU" sz="3000"/>
          </a:p>
        </p:txBody>
      </p:sp>
      <p:sp>
        <p:nvSpPr>
          <p:cNvPr id="2090" name="Текст 2090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Высокий балл не перекрывает ошибку в обязательной группе тестов</a:t>
            </a:r>
            <a:endParaRPr lang="ru-RU" sz="1600"/>
          </a:p>
        </p:txBody>
      </p:sp>
      <p:sp>
        <p:nvSpPr>
          <p:cNvPr id="2091" name="Текст 2091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Источник: docs/taskgen/testing-mechanics.md</a:t>
            </a:r>
            <a:endParaRPr lang="ru-RU" sz="1000"/>
          </a:p>
        </p:txBody>
      </p:sp>
      <p:sp>
        <p:nvSpPr>
          <p:cNvPr id="2092" name="Текст 2092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08</a:t>
            </a:r>
            <a:endParaRPr lang="ru-RU" sz="1100"/>
          </a:p>
        </p:txBody>
      </p:sp>
      <p:sp>
        <p:nvSpPr>
          <p:cNvPr id="2093" name="Блок 2093"/>
          <p:cNvSpPr/>
          <p:nvPr/>
        </p:nvSpPr>
        <p:spPr>
          <a:xfrm>
            <a:off x="54864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94" name="Текст 2094"/>
          <p:cNvSpPr txBox="1"/>
          <p:nvPr/>
        </p:nvSpPr>
        <p:spPr>
          <a:xfrm>
            <a:off x="75895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Код</a:t>
            </a:r>
            <a:endParaRPr lang="ru-RU" sz="2200"/>
          </a:p>
        </p:txBody>
      </p:sp>
      <p:sp>
        <p:nvSpPr>
          <p:cNvPr id="2095" name="Текст 2095"/>
          <p:cNvSpPr txBox="1"/>
          <p:nvPr/>
        </p:nvSpPr>
        <p:spPr>
          <a:xfrm>
            <a:off x="75895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Piston исполняет решение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Баллы: тесты, рубрика, качество и скорость относительно эталона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Ноль пройденных тестов → балл 0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Ошибка обязательной группы → не решено</a:t>
            </a:r>
            <a:endParaRPr lang="ru-RU" sz="1800"/>
          </a:p>
        </p:txBody>
      </p:sp>
      <p:sp>
        <p:nvSpPr>
          <p:cNvPr id="2096" name="Блок 2096"/>
          <p:cNvSpPr/>
          <p:nvPr/>
        </p:nvSpPr>
        <p:spPr>
          <a:xfrm>
            <a:off x="434340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097" name="Текст 2097"/>
          <p:cNvSpPr txBox="1"/>
          <p:nvPr/>
        </p:nvSpPr>
        <p:spPr>
          <a:xfrm>
            <a:off x="455371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Эссе</a:t>
            </a:r>
            <a:endParaRPr lang="ru-RU" sz="2200"/>
          </a:p>
        </p:txBody>
      </p:sp>
      <p:sp>
        <p:nvSpPr>
          <p:cNvPr id="2098" name="Текст 2098"/>
          <p:cNvSpPr txBox="1"/>
          <p:nvPr/>
        </p:nvSpPr>
        <p:spPr>
          <a:xfrm>
            <a:off x="455371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Судья оценивает пункты рубрики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Вердикт должен ссылаться на участки ответа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Код проверяет ссылки и формат; по пункту берётся нижняя медиана сэмплов</a:t>
            </a:r>
            <a:endParaRPr lang="ru-RU" sz="1800"/>
          </a:p>
        </p:txBody>
      </p:sp>
      <p:sp>
        <p:nvSpPr>
          <p:cNvPr id="2099" name="Блок 2099"/>
          <p:cNvSpPr/>
          <p:nvPr/>
        </p:nvSpPr>
        <p:spPr>
          <a:xfrm>
            <a:off x="813816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00" name="Текст 2100"/>
          <p:cNvSpPr txBox="1"/>
          <p:nvPr/>
        </p:nvSpPr>
        <p:spPr>
          <a:xfrm>
            <a:off x="834847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Задачка</a:t>
            </a:r>
            <a:endParaRPr lang="ru-RU" sz="2200"/>
          </a:p>
        </p:txBody>
      </p:sp>
      <p:sp>
        <p:nvSpPr>
          <p:cNvPr id="2101" name="Текст 2101"/>
          <p:cNvSpPr txBox="1"/>
          <p:nvPr/>
        </p:nvSpPr>
        <p:spPr>
          <a:xfrm>
            <a:off x="834847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Вариант кейса и порядок ответов задаёт seed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Код сверяет ответ с закрытым ключом: 1 или 0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Квиз участвует в общем балле, но не подтверждает грейд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Текст 2116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ГРАНИЦА МЕХАНИКИ</a:t>
            </a:r>
            <a:endParaRPr lang="ru-RU" sz="1000"/>
          </a:p>
        </p:txBody>
      </p:sp>
      <p:sp>
        <p:nvSpPr>
          <p:cNvPr id="2117" name="Текст 2117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Смена сюжета не защищает от копирования</a:t>
            </a:r>
            <a:endParaRPr lang="ru-RU" sz="3000"/>
          </a:p>
        </p:txBody>
      </p:sp>
      <p:sp>
        <p:nvSpPr>
          <p:cNvPr id="2118" name="Текст 2118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Устойчивость оцениваем по тому, меняется ли правильный ответ</a:t>
            </a:r>
            <a:endParaRPr lang="ru-RU" sz="1600"/>
          </a:p>
        </p:txBody>
      </p:sp>
      <p:sp>
        <p:nvSpPr>
          <p:cNvPr id="2119" name="Текст 2119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Источники: docs/taskgen/models.md; docs/taskgen/testing-mechanics.md</a:t>
            </a:r>
            <a:endParaRPr lang="ru-RU" sz="1000"/>
          </a:p>
        </p:txBody>
      </p:sp>
      <p:sp>
        <p:nvSpPr>
          <p:cNvPr id="2120" name="Текст 2120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10</a:t>
            </a:r>
            <a:endParaRPr lang="ru-RU" sz="1100"/>
          </a:p>
        </p:txBody>
      </p:sp>
      <p:sp>
        <p:nvSpPr>
          <p:cNvPr id="2121" name="Блок 2121"/>
          <p:cNvSpPr/>
          <p:nvPr/>
        </p:nvSpPr>
        <p:spPr>
          <a:xfrm>
            <a:off x="548640" y="2331720"/>
            <a:ext cx="53492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22" name="Текст 2122"/>
          <p:cNvSpPr txBox="1"/>
          <p:nvPr/>
        </p:nvSpPr>
        <p:spPr>
          <a:xfrm>
            <a:off x="758952" y="2514600"/>
            <a:ext cx="4928616" cy="6974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Что усложняет распространение</a:t>
            </a:r>
            <a:endParaRPr lang="ru-RU" sz="2200"/>
          </a:p>
        </p:txBody>
      </p:sp>
      <p:sp>
        <p:nvSpPr>
          <p:cNvPr id="2123" name="Текст 2123"/>
          <p:cNvSpPr txBox="1"/>
          <p:nvPr/>
        </p:nvSpPr>
        <p:spPr>
          <a:xfrm>
            <a:off x="758952" y="3312667"/>
            <a:ext cx="4928616" cy="26766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Разные шаблоны и параметры по seed</a:t>
            </a:r>
            <a:endParaRPr lang="ru-RU" sz="20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Скрытые тесты и закрытый эталон</a:t>
            </a:r>
            <a:endParaRPr lang="ru-RU" sz="20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задачках варианты фактов меняют ключ, а ответы перемешиваются</a:t>
            </a:r>
            <a:endParaRPr lang="ru-RU" sz="2000"/>
          </a:p>
        </p:txBody>
      </p:sp>
      <p:sp>
        <p:nvSpPr>
          <p:cNvPr id="2124" name="Блок 2124"/>
          <p:cNvSpPr/>
          <p:nvPr/>
        </p:nvSpPr>
        <p:spPr>
          <a:xfrm>
            <a:off x="6217920" y="2331720"/>
            <a:ext cx="5394960" cy="3794760"/>
          </a:xfrm>
          <a:prstGeom prst="roundRect">
            <a:avLst>
              <a:gd name="adj" fmla="val 5000"/>
            </a:avLst>
          </a:prstGeom>
          <a:solidFill>
            <a:srgbClr val="FFD6E4"/>
          </a:solidFill>
          <a:ln w="9525">
            <a:solidFill>
              <a:srgbClr val="8A83D1"/>
            </a:solidFill>
          </a:ln>
        </p:spPr>
      </p:sp>
      <p:sp>
        <p:nvSpPr>
          <p:cNvPr id="2125" name="Текст 2125"/>
          <p:cNvSpPr txBox="1"/>
          <p:nvPr/>
        </p:nvSpPr>
        <p:spPr>
          <a:xfrm>
            <a:off x="6428232" y="2514600"/>
            <a:ext cx="497433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Что обнаружил замер</a:t>
            </a:r>
            <a:endParaRPr lang="ru-RU" sz="2200"/>
          </a:p>
        </p:txBody>
      </p:sp>
      <p:sp>
        <p:nvSpPr>
          <p:cNvPr id="2126" name="Текст 2126"/>
          <p:cNvSpPr txBox="1"/>
          <p:nvPr/>
        </p:nvSpPr>
        <p:spPr>
          <a:xfrm>
            <a:off x="6428232" y="2991358"/>
            <a:ext cx="4974336" cy="299796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Готовый код прошёл все варианты одного шаблона в 18 из 18 проверенных шаблонов</a:t>
            </a:r>
            <a:endParaRPr lang="ru-RU" sz="20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Смена сюжета эссе сохранила балл в 8 из 9 случаев</a:t>
            </a:r>
            <a:endParaRPr lang="ru-RU" sz="20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Это не полная защита от копирования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Текст 2127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ВАЛИДАЦИЯ ТЕСТИРОВАНИЯ</a:t>
            </a:r>
            <a:endParaRPr lang="ru-RU" sz="1000"/>
          </a:p>
        </p:txBody>
      </p:sp>
      <p:sp>
        <p:nvSpPr>
          <p:cNvPr id="2128" name="Текст 2128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Тестирование: проверки механики пройдены</a:t>
            </a:r>
            <a:endParaRPr lang="ru-RU" sz="3000"/>
          </a:p>
        </p:txBody>
      </p:sp>
      <p:sp>
        <p:nvSpPr>
          <p:cNvPr id="2129" name="Текст 2129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Банк и модели измерены отдельно; результаты относятся к этим наборам</a:t>
            </a:r>
            <a:endParaRPr lang="ru-RU" sz="1600"/>
          </a:p>
        </p:txBody>
      </p:sp>
      <p:sp>
        <p:nvSpPr>
          <p:cNvPr id="2130" name="Текст 2130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Замеры 07.10.2026 · docs/taskgen/validation.md; docs/taskgen/models.md</a:t>
            </a:r>
            <a:endParaRPr lang="ru-RU" sz="1000"/>
          </a:p>
        </p:txBody>
      </p:sp>
      <p:sp>
        <p:nvSpPr>
          <p:cNvPr id="2131" name="Текст 2131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  <a:endParaRPr lang="ru-RU" sz="1100"/>
          </a:p>
        </p:txBody>
      </p:sp>
      <p:sp>
        <p:nvSpPr>
          <p:cNvPr id="2132" name="Блок 2132"/>
          <p:cNvSpPr/>
          <p:nvPr/>
        </p:nvSpPr>
        <p:spPr>
          <a:xfrm>
            <a:off x="548640" y="2331720"/>
            <a:ext cx="5367528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33" name="Текст 2133"/>
          <p:cNvSpPr txBox="1"/>
          <p:nvPr/>
        </p:nvSpPr>
        <p:spPr>
          <a:xfrm>
            <a:off x="758952" y="2514600"/>
            <a:ext cx="4946904" cy="5222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60 / 60</a:t>
            </a:r>
            <a:endParaRPr lang="ru-RU" sz="3200"/>
          </a:p>
        </p:txBody>
      </p:sp>
      <p:sp>
        <p:nvSpPr>
          <p:cNvPr id="2134" name="Текст 2134"/>
          <p:cNvSpPr txBox="1"/>
          <p:nvPr/>
        </p:nvSpPr>
        <p:spPr>
          <a:xfrm>
            <a:off x="758952" y="3137408"/>
            <a:ext cx="4946904" cy="7945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Верные решения прошли все кейсы</a:t>
            </a:r>
            <a:endParaRPr lang="ru-RU" sz="17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20 шаблонов кода × 3 seed; 1059 кейсов</a:t>
            </a:r>
            <a:endParaRPr lang="ru-RU" sz="1700"/>
          </a:p>
        </p:txBody>
      </p:sp>
      <p:sp>
        <p:nvSpPr>
          <p:cNvPr id="2135" name="Блок 2135"/>
          <p:cNvSpPr/>
          <p:nvPr/>
        </p:nvSpPr>
        <p:spPr>
          <a:xfrm>
            <a:off x="6236208" y="2331720"/>
            <a:ext cx="5367528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36" name="Текст 2136"/>
          <p:cNvSpPr txBox="1"/>
          <p:nvPr/>
        </p:nvSpPr>
        <p:spPr>
          <a:xfrm>
            <a:off x="6446520" y="2514600"/>
            <a:ext cx="4946904" cy="5222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231 / 231</a:t>
            </a:r>
            <a:endParaRPr lang="ru-RU" sz="3200"/>
          </a:p>
        </p:txBody>
      </p:sp>
      <p:sp>
        <p:nvSpPr>
          <p:cNvPr id="2137" name="Текст 2137"/>
          <p:cNvSpPr txBox="1"/>
          <p:nvPr/>
        </p:nvSpPr>
        <p:spPr>
          <a:xfrm>
            <a:off x="6446520" y="3137408"/>
            <a:ext cx="4946904" cy="7945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Прогонов неверных решений и констант отклонены</a:t>
            </a:r>
            <a:endParaRPr lang="ru-RU" sz="14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Проверяет известные ошибки, не полноту тестов</a:t>
            </a:r>
            <a:endParaRPr lang="ru-RU" sz="1400"/>
          </a:p>
        </p:txBody>
      </p:sp>
      <p:sp>
        <p:nvSpPr>
          <p:cNvPr id="2138" name="Блок 2138"/>
          <p:cNvSpPr/>
          <p:nvPr/>
        </p:nvSpPr>
        <p:spPr>
          <a:xfrm>
            <a:off x="548640" y="4389120"/>
            <a:ext cx="5367528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39" name="Текст 2139"/>
          <p:cNvSpPr txBox="1"/>
          <p:nvPr/>
        </p:nvSpPr>
        <p:spPr>
          <a:xfrm>
            <a:off x="758952" y="4572000"/>
            <a:ext cx="4946904" cy="5222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10 / 10</a:t>
            </a:r>
            <a:endParaRPr lang="ru-RU" sz="3200"/>
          </a:p>
        </p:txBody>
      </p:sp>
      <p:sp>
        <p:nvSpPr>
          <p:cNvPr id="2140" name="Текст 2140"/>
          <p:cNvSpPr txBox="1"/>
          <p:nvPr/>
        </p:nvSpPr>
        <p:spPr>
          <a:xfrm>
            <a:off x="758952" y="5194808"/>
            <a:ext cx="4946904" cy="7945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Шаблонов собрал DeepSeek Flash</a:t>
            </a:r>
            <a:endParaRPr lang="ru-RU" sz="17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GigaChat 3.1 через Ollama: 9 / 10</a:t>
            </a:r>
            <a:endParaRPr lang="ru-RU" sz="1700"/>
          </a:p>
        </p:txBody>
      </p:sp>
      <p:sp>
        <p:nvSpPr>
          <p:cNvPr id="2141" name="Блок 2141"/>
          <p:cNvSpPr/>
          <p:nvPr/>
        </p:nvSpPr>
        <p:spPr>
          <a:xfrm>
            <a:off x="6236208" y="4389120"/>
            <a:ext cx="5367528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42" name="Текст 2142"/>
          <p:cNvSpPr txBox="1"/>
          <p:nvPr/>
        </p:nvSpPr>
        <p:spPr>
          <a:xfrm>
            <a:off x="6446520" y="4572000"/>
            <a:ext cx="4946904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Пилот ещё нужен</a:t>
            </a:r>
            <a:endParaRPr lang="ru-RU" sz="2200"/>
          </a:p>
        </p:txBody>
      </p:sp>
      <p:sp>
        <p:nvSpPr>
          <p:cNvPr id="2143" name="Текст 2143"/>
          <p:cNvSpPr txBox="1"/>
          <p:nvPr/>
        </p:nvSpPr>
        <p:spPr>
          <a:xfrm>
            <a:off x="6446520" y="5048758"/>
            <a:ext cx="4946904" cy="94056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Стабильность грейда и соответствие экспертной оценке на настоящих кандидатах не измерены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Текст 2144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МЕХАНИКА ПОДБОРА</a:t>
            </a:r>
            <a:endParaRPr lang="ru-RU" sz="1000"/>
          </a:p>
        </p:txBody>
      </p:sp>
      <p:sp>
        <p:nvSpPr>
          <p:cNvPr id="2145" name="Текст 2145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Подбор разделяет фильтр, поиск и порядок</a:t>
            </a:r>
            <a:endParaRPr lang="ru-RU" sz="3000"/>
          </a:p>
        </p:txBody>
      </p:sp>
      <p:sp>
        <p:nvSpPr>
          <p:cNvPr id="2146" name="Текст 2146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Грейд — фактор и ярус подтверждённости, а не жёсткий префильтр</a:t>
            </a:r>
            <a:endParaRPr lang="ru-RU" sz="1600"/>
          </a:p>
        </p:txBody>
      </p:sp>
      <p:sp>
        <p:nvSpPr>
          <p:cNvPr id="2147" name="Текст 2147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Источник: docs/matcher/matching-mechanics.md</a:t>
            </a:r>
            <a:endParaRPr lang="ru-RU" sz="1000"/>
          </a:p>
        </p:txBody>
      </p:sp>
      <p:sp>
        <p:nvSpPr>
          <p:cNvPr id="2148" name="Текст 2148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12</a:t>
            </a:r>
            <a:endParaRPr lang="ru-RU" sz="1100"/>
          </a:p>
        </p:txBody>
      </p:sp>
      <p:sp>
        <p:nvSpPr>
          <p:cNvPr id="2149" name="Блок 2149"/>
          <p:cNvSpPr/>
          <p:nvPr/>
        </p:nvSpPr>
        <p:spPr>
          <a:xfrm>
            <a:off x="548640" y="2377440"/>
            <a:ext cx="2436876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50" name="Текст 2150"/>
          <p:cNvSpPr txBox="1"/>
          <p:nvPr/>
        </p:nvSpPr>
        <p:spPr>
          <a:xfrm>
            <a:off x="758952" y="2560320"/>
            <a:ext cx="2016252" cy="3469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SQL-фильтр</a:t>
            </a:r>
            <a:endParaRPr lang="ru-RU" sz="2000"/>
          </a:p>
        </p:txBody>
      </p:sp>
      <p:sp>
        <p:nvSpPr>
          <p:cNvPr id="2151" name="Текст 2151"/>
          <p:cNvSpPr txBox="1"/>
          <p:nvPr/>
        </p:nvSpPr>
        <p:spPr>
          <a:xfrm>
            <a:off x="758952" y="3007868"/>
            <a:ext cx="2016252" cy="24785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Видимость, готовность к предложениям, специализация, пересечение вилок; город связанной вакансии</a:t>
            </a:r>
            <a:endParaRPr lang="ru-RU" sz="1600"/>
          </a:p>
        </p:txBody>
      </p:sp>
      <p:sp>
        <p:nvSpPr>
          <p:cNvPr id="2152" name="Переход 2152"/>
          <p:cNvSpPr/>
          <p:nvPr/>
        </p:nvSpPr>
        <p:spPr>
          <a:xfrm>
            <a:off x="3049524" y="4000500"/>
            <a:ext cx="320040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153" name="Блок 2153"/>
          <p:cNvSpPr/>
          <p:nvPr/>
        </p:nvSpPr>
        <p:spPr>
          <a:xfrm>
            <a:off x="3424428" y="2377440"/>
            <a:ext cx="2436876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54" name="Текст 2154"/>
          <p:cNvSpPr txBox="1"/>
          <p:nvPr/>
        </p:nvSpPr>
        <p:spPr>
          <a:xfrm>
            <a:off x="3634740" y="2560320"/>
            <a:ext cx="2016252" cy="639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Вектор + разведка</a:t>
            </a:r>
            <a:endParaRPr lang="ru-RU" sz="2000"/>
          </a:p>
        </p:txBody>
      </p:sp>
      <p:sp>
        <p:nvSpPr>
          <p:cNvPr id="2155" name="Текст 2155"/>
          <p:cNvSpPr txBox="1"/>
          <p:nvPr/>
        </p:nvSpPr>
        <p:spPr>
          <a:xfrm>
            <a:off x="3634740" y="3299968"/>
            <a:ext cx="2016252" cy="21864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bge-m3: top-K близких карточек + новые и случайные профили; малый пул идёт целиком</a:t>
            </a:r>
            <a:endParaRPr lang="ru-RU" sz="1600"/>
          </a:p>
        </p:txBody>
      </p:sp>
      <p:sp>
        <p:nvSpPr>
          <p:cNvPr id="2156" name="Переход 2156"/>
          <p:cNvSpPr/>
          <p:nvPr/>
        </p:nvSpPr>
        <p:spPr>
          <a:xfrm>
            <a:off x="5925312" y="4000500"/>
            <a:ext cx="320040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157" name="Блок 2157"/>
          <p:cNvSpPr/>
          <p:nvPr/>
        </p:nvSpPr>
        <p:spPr>
          <a:xfrm>
            <a:off x="6300216" y="2377440"/>
            <a:ext cx="2436876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58" name="Текст 2158"/>
          <p:cNvSpPr txBox="1"/>
          <p:nvPr/>
        </p:nvSpPr>
        <p:spPr>
          <a:xfrm>
            <a:off x="6510528" y="2560320"/>
            <a:ext cx="2016252" cy="639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Факторы + LLM</a:t>
            </a:r>
            <a:endParaRPr lang="ru-RU" sz="2000"/>
          </a:p>
        </p:txBody>
      </p:sp>
      <p:sp>
        <p:nvSpPr>
          <p:cNvPr id="2159" name="Текст 2159"/>
          <p:cNvSpPr txBox="1"/>
          <p:nvPr/>
        </p:nvSpPr>
        <p:spPr>
          <a:xfrm>
            <a:off x="6510528" y="3299968"/>
            <a:ext cx="2016252" cy="21864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Код считает стек, грейд и другие факторы; LLM учитывает потребность и негативные пожелания</a:t>
            </a:r>
            <a:endParaRPr lang="ru-RU" sz="1600"/>
          </a:p>
        </p:txBody>
      </p:sp>
      <p:sp>
        <p:nvSpPr>
          <p:cNvPr id="2160" name="Переход 2160"/>
          <p:cNvSpPr/>
          <p:nvPr/>
        </p:nvSpPr>
        <p:spPr>
          <a:xfrm>
            <a:off x="8801100" y="4000500"/>
            <a:ext cx="320040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161" name="Блок 2161"/>
          <p:cNvSpPr/>
          <p:nvPr/>
        </p:nvSpPr>
        <p:spPr>
          <a:xfrm>
            <a:off x="9176004" y="2377440"/>
            <a:ext cx="2436876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62" name="Текст 2162"/>
          <p:cNvSpPr txBox="1"/>
          <p:nvPr/>
        </p:nvSpPr>
        <p:spPr>
          <a:xfrm>
            <a:off x="9386316" y="2560320"/>
            <a:ext cx="2016252" cy="639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Порядок + текст</a:t>
            </a:r>
            <a:endParaRPr lang="ru-RU" sz="2000"/>
          </a:p>
        </p:txBody>
      </p:sp>
      <p:sp>
        <p:nvSpPr>
          <p:cNvPr id="2163" name="Текст 2163"/>
          <p:cNvSpPr txBox="1"/>
          <p:nvPr/>
        </p:nvSpPr>
        <p:spPr>
          <a:xfrm>
            <a:off x="9386316" y="3299968"/>
            <a:ext cx="2016252" cy="21864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Подтверждённый грейд выше заявленного; внутри — оценка. Объяснение по факторам; при отказе — шаблон</a:t>
            </a:r>
            <a:endParaRPr lang="ru-RU" sz="1600"/>
          </a:p>
        </p:txBody>
      </p:sp>
      <p:sp>
        <p:nvSpPr>
          <p:cNvPr id="2164" name="Текст 2164"/>
          <p:cNvSpPr txBox="1"/>
          <p:nvPr/>
        </p:nvSpPr>
        <p:spPr>
          <a:xfrm>
            <a:off x="594360" y="5833872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Уточнение создаёт новый прогон; фильтр сужает готовый. Предыдущая подборка сохраняется</a:t>
            </a:r>
            <a:endParaRPr lang="ru-RU" sz="170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Текст 2165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ВАЛИДАЦИЯ ПОДБОРА</a:t>
            </a:r>
            <a:endParaRPr lang="ru-RU" sz="1000"/>
          </a:p>
        </p:txBody>
      </p:sp>
      <p:sp>
        <p:nvSpPr>
          <p:cNvPr id="2166" name="Текст 2166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nDCG оценивает порядок, а не точность найма</a:t>
            </a:r>
            <a:endParaRPr lang="ru-RU" sz="3000"/>
          </a:p>
        </p:txBody>
      </p:sp>
      <p:sp>
        <p:nvSpPr>
          <p:cNvPr id="2167" name="Текст 2167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DeepSeek Flash без рассуждений · HyDE · K = 3 · bge-m3</a:t>
            </a:r>
            <a:endParaRPr lang="ru-RU" sz="1600"/>
          </a:p>
        </p:txBody>
      </p:sp>
      <p:sp>
        <p:nvSpPr>
          <p:cNvPr id="2168" name="Текст 2168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Замер 10.10.2026 · Источник: docs/matcher/validation.md</a:t>
            </a:r>
            <a:endParaRPr lang="ru-RU" sz="1000"/>
          </a:p>
        </p:txBody>
      </p:sp>
      <p:sp>
        <p:nvSpPr>
          <p:cNvPr id="2169" name="Текст 2169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13</a:t>
            </a:r>
            <a:endParaRPr lang="ru-RU" sz="1100"/>
          </a:p>
        </p:txBody>
      </p:sp>
      <p:sp>
        <p:nvSpPr>
          <p:cNvPr id="2170" name="Блок 2170"/>
          <p:cNvSpPr/>
          <p:nvPr/>
        </p:nvSpPr>
        <p:spPr>
          <a:xfrm>
            <a:off x="548640" y="23317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71" name="Текст 2171"/>
          <p:cNvSpPr txBox="1"/>
          <p:nvPr/>
        </p:nvSpPr>
        <p:spPr>
          <a:xfrm>
            <a:off x="758952" y="2514600"/>
            <a:ext cx="3054096" cy="60985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0.962</a:t>
            </a:r>
            <a:endParaRPr lang="ru-RU" sz="3800"/>
          </a:p>
        </p:txBody>
      </p:sp>
      <p:sp>
        <p:nvSpPr>
          <p:cNvPr id="2172" name="Текст 2172"/>
          <p:cNvSpPr txBox="1"/>
          <p:nvPr/>
        </p:nvSpPr>
        <p:spPr>
          <a:xfrm>
            <a:off x="758952" y="3225038"/>
            <a:ext cx="3054096" cy="7983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nDCG@10 итоговой выдачи</a:t>
            </a:r>
            <a:endParaRPr lang="ru-RU" sz="15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Потолок принятого правила подтверждённости: 0.966</a:t>
            </a:r>
            <a:endParaRPr lang="ru-RU" sz="1500"/>
          </a:p>
        </p:txBody>
      </p:sp>
      <p:sp>
        <p:nvSpPr>
          <p:cNvPr id="2173" name="Блок 2173"/>
          <p:cNvSpPr/>
          <p:nvPr/>
        </p:nvSpPr>
        <p:spPr>
          <a:xfrm>
            <a:off x="4343400" y="23317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74" name="Текст 2174"/>
          <p:cNvSpPr txBox="1"/>
          <p:nvPr/>
        </p:nvSpPr>
        <p:spPr>
          <a:xfrm>
            <a:off x="4553712" y="2514600"/>
            <a:ext cx="3054096" cy="60985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0.78</a:t>
            </a:r>
            <a:endParaRPr lang="ru-RU" sz="3800"/>
          </a:p>
        </p:txBody>
      </p:sp>
      <p:sp>
        <p:nvSpPr>
          <p:cNvPr id="2175" name="Текст 2175"/>
          <p:cNvSpPr txBox="1"/>
          <p:nvPr/>
        </p:nvSpPr>
        <p:spPr>
          <a:xfrm>
            <a:off x="4553712" y="3225038"/>
            <a:ext cx="3054096" cy="7983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Recall@3 векторной стадии</a:t>
            </a:r>
            <a:endParaRPr lang="ru-RU" sz="15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Доля релевантных профилей в векторном top-3</a:t>
            </a:r>
            <a:endParaRPr lang="ru-RU" sz="1500"/>
          </a:p>
        </p:txBody>
      </p:sp>
      <p:sp>
        <p:nvSpPr>
          <p:cNvPr id="2176" name="Блок 2176"/>
          <p:cNvSpPr/>
          <p:nvPr/>
        </p:nvSpPr>
        <p:spPr>
          <a:xfrm>
            <a:off x="8138160" y="23317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77" name="Текст 2177"/>
          <p:cNvSpPr txBox="1"/>
          <p:nvPr/>
        </p:nvSpPr>
        <p:spPr>
          <a:xfrm>
            <a:off x="8348472" y="2514600"/>
            <a:ext cx="3054096" cy="55143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4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42 / 42</a:t>
            </a:r>
            <a:endParaRPr lang="ru-RU" sz="3400"/>
          </a:p>
        </p:txBody>
      </p:sp>
      <p:sp>
        <p:nvSpPr>
          <p:cNvPr id="2178" name="Текст 2178"/>
          <p:cNvSpPr txBox="1"/>
          <p:nvPr/>
        </p:nvSpPr>
        <p:spPr>
          <a:xfrm>
            <a:off x="8348472" y="3166618"/>
            <a:ext cx="3054096" cy="8567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Объяснения прошли проверку</a:t>
            </a:r>
            <a:endParaRPr lang="ru-RU" sz="17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Обзоры: 6 / 6</a:t>
            </a:r>
            <a:endParaRPr lang="ru-RU" sz="1700"/>
          </a:p>
        </p:txBody>
      </p:sp>
      <p:sp>
        <p:nvSpPr>
          <p:cNvPr id="2179" name="Блок 2179"/>
          <p:cNvSpPr/>
          <p:nvPr/>
        </p:nvSpPr>
        <p:spPr>
          <a:xfrm>
            <a:off x="548640" y="4526280"/>
            <a:ext cx="11064240" cy="1581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80" name="Текст 2180"/>
          <p:cNvSpPr txBox="1"/>
          <p:nvPr/>
        </p:nvSpPr>
        <p:spPr>
          <a:xfrm>
            <a:off x="768096" y="470916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Набор: шесть потребностей, по семь синтетических профилей в пуле</a:t>
            </a:r>
            <a:endParaRPr lang="ru-RU" sz="2100"/>
          </a:p>
        </p:txBody>
      </p:sp>
      <p:sp>
        <p:nvSpPr>
          <p:cNvPr id="2181" name="Текст 2181"/>
          <p:cNvSpPr txBox="1"/>
          <p:nvPr/>
        </p:nvSpPr>
        <p:spPr>
          <a:xfrm>
            <a:off x="768096" y="515721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Разметка задана построением. Top-K с разведкой покрывает весь пул; влияние K на итоговый порядок не доказано</a:t>
            </a:r>
            <a:endParaRPr lang="ru-RU" sz="16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DeepSeek: один прогон. Проверка объяснений не заменяет независимого эксперта</a:t>
            </a:r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Текст 2182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ИНТЕРФЕЙС ПОДБОРА</a:t>
            </a:r>
            <a:endParaRPr lang="ru-RU" sz="1000"/>
          </a:p>
        </p:txBody>
      </p:sp>
      <p:sp>
        <p:nvSpPr>
          <p:cNvPr id="2183" name="Текст 2183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Карты помогают исследовать тот же пул</a:t>
            </a:r>
            <a:endParaRPr lang="ru-RU" sz="3000"/>
          </a:p>
        </p:txBody>
      </p:sp>
      <p:sp>
        <p:nvSpPr>
          <p:cNvPr id="2184" name="Текст 2184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Геометрия — визуальный ориентир; квалификацию подтверждает тест</a:t>
            </a:r>
            <a:endParaRPr lang="ru-RU" sz="1600"/>
          </a:p>
        </p:txBody>
      </p:sp>
      <p:sp>
        <p:nvSpPr>
          <p:cNvPr id="2185" name="Текст 218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Источник: docs/frontend/architecture.md · Кадры приложения: синтетические данные</a:t>
            </a:r>
            <a:endParaRPr lang="ru-RU" sz="1000"/>
          </a:p>
        </p:txBody>
      </p:sp>
      <p:sp>
        <p:nvSpPr>
          <p:cNvPr id="2186" name="Текст 2186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14</a:t>
            </a:r>
            <a:endParaRPr lang="ru-RU" sz="1100"/>
          </a:p>
        </p:txBody>
      </p:sp>
      <p:pic>
        <p:nvPicPr>
          <p:cNvPr id="2187" name="search-cloud-light.png" descr="Настоящий интерфейс приложения; синтетические данные; фрагмент экрана"/>
          <p:cNvPicPr>
            <a:picLocks noChangeAspect="1"/>
          </p:cNvPicPr>
          <p:nvPr/>
        </p:nvPicPr>
        <p:blipFill>
          <a:blip r:embed="rIdFinal2187"/>
          <a:srcRect l="19097" t="13500" r="2430" b="26000"/>
          <a:stretch>
            <a:fillRect/>
          </a:stretch>
        </p:blipFill>
        <p:spPr>
          <a:xfrm>
            <a:off x="589750" y="2286000"/>
            <a:ext cx="5294451" cy="2834640"/>
          </a:xfrm>
          <a:prstGeom prst="rect">
            <a:avLst/>
          </a:prstGeom>
          <a:ln w="9525">
            <a:solidFill>
              <a:srgbClr val="8A83D1"/>
            </a:solidFill>
          </a:ln>
        </p:spPr>
      </p:pic>
      <p:pic>
        <p:nvPicPr>
          <p:cNvPr id="2188" name="search-radial-dark.png" descr="Настоящий интерфейс приложения; синтетические данные; фрагмент экрана"/>
          <p:cNvPicPr>
            <a:picLocks noChangeAspect="1"/>
          </p:cNvPicPr>
          <p:nvPr/>
        </p:nvPicPr>
        <p:blipFill>
          <a:blip r:embed="rIdFinal2188"/>
          <a:srcRect l="20138" t="34500" r="2430" b="3500"/>
          <a:stretch>
            <a:fillRect/>
          </a:stretch>
        </p:blipFill>
        <p:spPr>
          <a:xfrm>
            <a:off x="6375654" y="2286000"/>
            <a:ext cx="5097780" cy="2834640"/>
          </a:xfrm>
          <a:prstGeom prst="rect">
            <a:avLst/>
          </a:prstGeom>
          <a:ln w="9525">
            <a:solidFill>
              <a:srgbClr val="8A83D1"/>
            </a:solidFill>
          </a:ln>
        </p:spPr>
      </p:pic>
      <p:sp>
        <p:nvSpPr>
          <p:cNvPr id="2189" name="Текст 2189"/>
          <p:cNvSpPr txBox="1"/>
          <p:nvPr/>
        </p:nvSpPr>
        <p:spPr>
          <a:xfrm>
            <a:off x="548640" y="5349240"/>
            <a:ext cx="536752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Облако: структура профилей</a:t>
            </a:r>
            <a:endParaRPr lang="ru-RU" sz="2100"/>
          </a:p>
        </p:txBody>
      </p:sp>
      <p:sp>
        <p:nvSpPr>
          <p:cNvPr id="2190" name="Текст 2190"/>
          <p:cNvSpPr txBox="1"/>
          <p:nvPr/>
        </p:nvSpPr>
        <p:spPr>
          <a:xfrm>
            <a:off x="548640" y="5806440"/>
            <a:ext cx="53675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PCA даёт приблизительную проекцию; HDBSCAN ищет группы в исходных векторах</a:t>
            </a:r>
            <a:endParaRPr lang="ru-RU" sz="1600"/>
          </a:p>
        </p:txBody>
      </p:sp>
      <p:sp>
        <p:nvSpPr>
          <p:cNvPr id="2191" name="Текст 2191"/>
          <p:cNvSpPr txBox="1"/>
          <p:nvPr/>
        </p:nvSpPr>
        <p:spPr>
          <a:xfrm>
            <a:off x="6236208" y="5349240"/>
            <a:ext cx="536752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Радиальная карта: близость к запросу</a:t>
            </a:r>
            <a:endParaRPr lang="ru-RU" sz="2000"/>
          </a:p>
        </p:txBody>
      </p:sp>
      <p:sp>
        <p:nvSpPr>
          <p:cNvPr id="2192" name="Текст 2192"/>
          <p:cNvSpPr txBox="1"/>
          <p:nvPr/>
        </p:nvSpPr>
        <p:spPr>
          <a:xfrm>
            <a:off x="6236208" y="5806440"/>
            <a:ext cx="53675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Радиус = (1 − cosine) / 2. Расстояния между кандидатами здесь не являются исходными</a:t>
            </a:r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Текст 2193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ПРИВАТНОСТЬ</a:t>
            </a:r>
            <a:endParaRPr lang="ru-RU" sz="1000"/>
          </a:p>
        </p:txBody>
      </p:sp>
      <p:sp>
        <p:nvSpPr>
          <p:cNvPr id="2194" name="Текст 2194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Условия видны до раскрытия контактов</a:t>
            </a:r>
            <a:endParaRPr lang="ru-RU" sz="3000"/>
          </a:p>
        </p:txBody>
      </p:sp>
      <p:sp>
        <p:nvSpPr>
          <p:cNvPr id="2195" name="Текст 2195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Переписка не равна согласию принять предложение</a:t>
            </a:r>
            <a:endParaRPr lang="ru-RU" sz="1600"/>
          </a:p>
        </p:txBody>
      </p:sp>
      <p:sp>
        <p:nvSpPr>
          <p:cNvPr id="2196" name="Текст 2196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Источники: docs/api/architecture.md; docs/frontend/architecture.md</a:t>
            </a:r>
            <a:endParaRPr lang="ru-RU" sz="1000"/>
          </a:p>
        </p:txBody>
      </p:sp>
      <p:sp>
        <p:nvSpPr>
          <p:cNvPr id="2197" name="Текст 2197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15</a:t>
            </a:r>
            <a:endParaRPr lang="ru-RU" sz="1100"/>
          </a:p>
        </p:txBody>
      </p:sp>
      <p:sp>
        <p:nvSpPr>
          <p:cNvPr id="2198" name="Блок 2198"/>
          <p:cNvSpPr/>
          <p:nvPr/>
        </p:nvSpPr>
        <p:spPr>
          <a:xfrm>
            <a:off x="548640" y="2377440"/>
            <a:ext cx="2436876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99" name="Текст 2199"/>
          <p:cNvSpPr txBox="1"/>
          <p:nvPr/>
        </p:nvSpPr>
        <p:spPr>
          <a:xfrm>
            <a:off x="758952" y="2560320"/>
            <a:ext cx="2016252" cy="639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До приглашения</a:t>
            </a:r>
            <a:endParaRPr lang="ru-RU" sz="2000"/>
          </a:p>
        </p:txBody>
      </p:sp>
      <p:sp>
        <p:nvSpPr>
          <p:cNvPr id="2200" name="Текст 2200"/>
          <p:cNvSpPr txBox="1"/>
          <p:nvPr/>
        </p:nvSpPr>
        <p:spPr>
          <a:xfrm>
            <a:off x="758952" y="3299968"/>
            <a:ext cx="2016252" cy="1820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Работодатель видит разрешённый профиль, без закрытых контактов</a:t>
            </a:r>
            <a:endParaRPr lang="ru-RU" sz="1600"/>
          </a:p>
        </p:txBody>
      </p:sp>
      <p:sp>
        <p:nvSpPr>
          <p:cNvPr id="2201" name="Переход 2201"/>
          <p:cNvSpPr/>
          <p:nvPr/>
        </p:nvSpPr>
        <p:spPr>
          <a:xfrm>
            <a:off x="3049524" y="3817620"/>
            <a:ext cx="320040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202" name="Блок 2202"/>
          <p:cNvSpPr/>
          <p:nvPr/>
        </p:nvSpPr>
        <p:spPr>
          <a:xfrm>
            <a:off x="3424428" y="2377440"/>
            <a:ext cx="2436876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03" name="Текст 2203"/>
          <p:cNvSpPr txBox="1"/>
          <p:nvPr/>
        </p:nvSpPr>
        <p:spPr>
          <a:xfrm>
            <a:off x="3634740" y="2560320"/>
            <a:ext cx="2016252" cy="3469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Предложение</a:t>
            </a:r>
            <a:endParaRPr lang="ru-RU" sz="2000"/>
          </a:p>
        </p:txBody>
      </p:sp>
      <p:sp>
        <p:nvSpPr>
          <p:cNvPr id="2204" name="Текст 2204"/>
          <p:cNvSpPr txBox="1"/>
          <p:nvPr/>
        </p:nvSpPr>
        <p:spPr>
          <a:xfrm>
            <a:off x="3634740" y="3007868"/>
            <a:ext cx="2016252" cy="21127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Компания, описание работы и обязательная вилка от–до в рублях</a:t>
            </a:r>
            <a:endParaRPr lang="ru-RU" sz="1600"/>
          </a:p>
        </p:txBody>
      </p:sp>
      <p:sp>
        <p:nvSpPr>
          <p:cNvPr id="2205" name="Переход 2205"/>
          <p:cNvSpPr/>
          <p:nvPr/>
        </p:nvSpPr>
        <p:spPr>
          <a:xfrm>
            <a:off x="5925312" y="3817620"/>
            <a:ext cx="320040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206" name="Блок 2206"/>
          <p:cNvSpPr/>
          <p:nvPr/>
        </p:nvSpPr>
        <p:spPr>
          <a:xfrm>
            <a:off x="6300216" y="2377440"/>
            <a:ext cx="2436876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07" name="Текст 2207"/>
          <p:cNvSpPr txBox="1"/>
          <p:nvPr/>
        </p:nvSpPr>
        <p:spPr>
          <a:xfrm>
            <a:off x="6510528" y="2560320"/>
            <a:ext cx="2016252" cy="3469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Обсуждение</a:t>
            </a:r>
            <a:endParaRPr lang="ru-RU" sz="2000"/>
          </a:p>
        </p:txBody>
      </p:sp>
      <p:sp>
        <p:nvSpPr>
          <p:cNvPr id="2208" name="Текст 2208"/>
          <p:cNvSpPr txBox="1"/>
          <p:nvPr/>
        </p:nvSpPr>
        <p:spPr>
          <a:xfrm>
            <a:off x="6510528" y="3007868"/>
            <a:ext cx="2016252" cy="21127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Чат открывается сразу; ответ кандидата не раскрывает контакты</a:t>
            </a:r>
            <a:endParaRPr lang="ru-RU" sz="1600"/>
          </a:p>
        </p:txBody>
      </p:sp>
      <p:sp>
        <p:nvSpPr>
          <p:cNvPr id="2209" name="Переход 2209"/>
          <p:cNvSpPr/>
          <p:nvPr/>
        </p:nvSpPr>
        <p:spPr>
          <a:xfrm>
            <a:off x="8801100" y="3817620"/>
            <a:ext cx="320040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210" name="Блок 2210"/>
          <p:cNvSpPr/>
          <p:nvPr/>
        </p:nvSpPr>
        <p:spPr>
          <a:xfrm>
            <a:off x="9176004" y="2377440"/>
            <a:ext cx="2436876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11" name="Текст 2211"/>
          <p:cNvSpPr txBox="1"/>
          <p:nvPr/>
        </p:nvSpPr>
        <p:spPr>
          <a:xfrm>
            <a:off x="9386316" y="2560320"/>
            <a:ext cx="2016252" cy="3469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lang="ru-RU" sz="2000"/>
          </a:p>
        </p:txBody>
      </p:sp>
      <p:sp>
        <p:nvSpPr>
          <p:cNvPr id="2212" name="Текст 2212"/>
          <p:cNvSpPr txBox="1"/>
          <p:nvPr/>
        </p:nvSpPr>
        <p:spPr>
          <a:xfrm>
            <a:off x="9386316" y="3007868"/>
            <a:ext cx="2016252" cy="21127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Принятие приглашения или самостоятельный отклик даёт основание для показа контактов</a:t>
            </a:r>
            <a:endParaRPr lang="ru-RU" sz="1600"/>
          </a:p>
        </p:txBody>
      </p:sp>
      <p:sp>
        <p:nvSpPr>
          <p:cNvPr id="2213" name="Текст 2213"/>
          <p:cNvSpPr txBox="1"/>
          <p:nvPr/>
        </p:nvSpPr>
        <p:spPr>
          <a:xfrm>
            <a:off x="594360" y="5623560"/>
            <a:ext cx="109270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Актуальные правила видимости действуют также в PDF и картах. Отзыв обработки запускает сохраняемую очистку векторов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Текст 2214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КОНТАКТ ЛЮДЕЙ</a:t>
            </a:r>
            <a:endParaRPr lang="ru-RU" sz="1000"/>
          </a:p>
        </p:txBody>
      </p:sp>
      <p:sp>
        <p:nvSpPr>
          <p:cNvPr id="2215" name="Текст 2215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Кандидат может обсудить условия заранее</a:t>
            </a:r>
            <a:endParaRPr lang="ru-RU" sz="3000"/>
          </a:p>
        </p:txBody>
      </p:sp>
      <p:sp>
        <p:nvSpPr>
          <p:cNvPr id="2216" name="Текст 2216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Приглашение уже содержит зарплату; диалог открыт до принятия</a:t>
            </a:r>
            <a:endParaRPr lang="ru-RU" sz="1600"/>
          </a:p>
        </p:txBody>
      </p:sp>
      <p:sp>
        <p:nvSpPr>
          <p:cNvPr id="2217" name="Текст 2217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Источник: docs/api/architecture.md · Кадры приложения: синтетические данные</a:t>
            </a:r>
            <a:endParaRPr lang="ru-RU" sz="1000"/>
          </a:p>
        </p:txBody>
      </p:sp>
      <p:sp>
        <p:nvSpPr>
          <p:cNvPr id="2218" name="Текст 2218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16</a:t>
            </a:r>
            <a:endParaRPr lang="ru-RU" sz="1100"/>
          </a:p>
        </p:txBody>
      </p:sp>
      <p:pic>
        <p:nvPicPr>
          <p:cNvPr id="2219" name="conversation-light.png" descr="Настоящий интерфейс приложения; синтетические данные; фрагмент экрана"/>
          <p:cNvPicPr>
            <a:picLocks noChangeAspect="1"/>
          </p:cNvPicPr>
          <p:nvPr/>
        </p:nvPicPr>
        <p:blipFill>
          <a:blip r:embed="rIdFinal2219"/>
          <a:srcRect l="19791" t="23000" r="2222" b="17300"/>
          <a:stretch>
            <a:fillRect/>
          </a:stretch>
        </p:blipFill>
        <p:spPr>
          <a:xfrm>
            <a:off x="607945" y="2194560"/>
            <a:ext cx="7516628" cy="3995928"/>
          </a:xfrm>
          <a:prstGeom prst="rect">
            <a:avLst/>
          </a:prstGeom>
          <a:ln w="9525">
            <a:solidFill>
              <a:srgbClr val="8A83D1"/>
            </a:solidFill>
          </a:ln>
        </p:spPr>
      </p:pic>
      <p:sp>
        <p:nvSpPr>
          <p:cNvPr id="2220" name="Текст 2220"/>
          <p:cNvSpPr txBox="1"/>
          <p:nvPr/>
        </p:nvSpPr>
        <p:spPr>
          <a:xfrm>
            <a:off x="8549640" y="23774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Предложение</a:t>
            </a:r>
            <a:endParaRPr lang="ru-RU" sz="2200"/>
          </a:p>
        </p:txBody>
      </p:sp>
      <p:sp>
        <p:nvSpPr>
          <p:cNvPr id="2221" name="Текст 2221"/>
          <p:cNvSpPr txBox="1"/>
          <p:nvPr/>
        </p:nvSpPr>
        <p:spPr>
          <a:xfrm>
            <a:off x="8549640" y="2907792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Вилка и описание остаются основой разговора</a:t>
            </a:r>
            <a:endParaRPr lang="ru-RU" sz="1900"/>
          </a:p>
        </p:txBody>
      </p:sp>
      <p:sp>
        <p:nvSpPr>
          <p:cNvPr id="2222" name="Текст 2222"/>
          <p:cNvSpPr txBox="1"/>
          <p:nvPr/>
        </p:nvSpPr>
        <p:spPr>
          <a:xfrm>
            <a:off x="8549640" y="422452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Выбор кандидата</a:t>
            </a:r>
            <a:endParaRPr lang="ru-RU" sz="2100"/>
          </a:p>
        </p:txBody>
      </p:sp>
      <p:sp>
        <p:nvSpPr>
          <p:cNvPr id="2223" name="Текст 2223"/>
          <p:cNvSpPr txBox="1"/>
          <p:nvPr/>
        </p:nvSpPr>
        <p:spPr>
          <a:xfrm>
            <a:off x="8549640" y="4736592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Уточнить условия, принять или отклонить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Ответ в чате не меняет статус приглашения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Текст 2224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ДОПОЛНИТЕЛЬНЫЕ СЦЕНАРИИ</a:t>
            </a:r>
            <a:endParaRPr lang="ru-RU" sz="1000"/>
          </a:p>
        </p:txBody>
      </p:sp>
      <p:sp>
        <p:nvSpPr>
          <p:cNvPr id="2225" name="Текст 2225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Отклики и короткие задания дополняют подбор</a:t>
            </a:r>
            <a:endParaRPr lang="ru-RU" sz="3000"/>
          </a:p>
        </p:txBody>
      </p:sp>
      <p:sp>
        <p:nvSpPr>
          <p:cNvPr id="2226" name="Текст 2226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Кандидат сохраняет инициативу; работодатель получает свежий сигнал</a:t>
            </a:r>
            <a:endParaRPr lang="ru-RU" sz="1600"/>
          </a:p>
        </p:txBody>
      </p:sp>
      <p:sp>
        <p:nvSpPr>
          <p:cNvPr id="2227" name="Текст 2227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Источник: docs/frontend/validation.md · Кадры приложения: синтетические данные</a:t>
            </a:r>
            <a:endParaRPr lang="ru-RU" sz="1000"/>
          </a:p>
        </p:txBody>
      </p:sp>
      <p:sp>
        <p:nvSpPr>
          <p:cNvPr id="2228" name="Текст 2228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17</a:t>
            </a:r>
            <a:endParaRPr lang="ru-RU" sz="1100"/>
          </a:p>
        </p:txBody>
      </p:sp>
      <p:pic>
        <p:nvPicPr>
          <p:cNvPr id="2229" name="applications-light.png" descr="Настоящий интерфейс приложения; синтетические данные; фрагмент экрана"/>
          <p:cNvPicPr>
            <a:picLocks noChangeAspect="1"/>
          </p:cNvPicPr>
          <p:nvPr/>
        </p:nvPicPr>
        <p:blipFill>
          <a:blip r:embed="rIdFinal2229"/>
          <a:srcRect l="19097" t="13000" r="2222" b="28000"/>
          <a:stretch>
            <a:fillRect/>
          </a:stretch>
        </p:blipFill>
        <p:spPr>
          <a:xfrm>
            <a:off x="548640" y="2296628"/>
            <a:ext cx="5367528" cy="2795094"/>
          </a:xfrm>
          <a:prstGeom prst="rect">
            <a:avLst/>
          </a:prstGeom>
          <a:ln w="9525">
            <a:solidFill>
              <a:srgbClr val="8A83D1"/>
            </a:solidFill>
          </a:ln>
        </p:spPr>
      </p:pic>
      <p:pic>
        <p:nvPicPr>
          <p:cNvPr id="2230" name="assignment-answer-light.png" descr="Настоящий интерфейс приложения; синтетические данные; фрагмент экрана"/>
          <p:cNvPicPr>
            <a:picLocks noChangeAspect="1"/>
          </p:cNvPicPr>
          <p:nvPr/>
        </p:nvPicPr>
        <p:blipFill>
          <a:blip r:embed="rIdFinal2230"/>
          <a:srcRect l="19097" t="13000" r="2222" b="28000"/>
          <a:stretch>
            <a:fillRect/>
          </a:stretch>
        </p:blipFill>
        <p:spPr>
          <a:xfrm>
            <a:off x="6236208" y="2296628"/>
            <a:ext cx="5367528" cy="2795094"/>
          </a:xfrm>
          <a:prstGeom prst="rect">
            <a:avLst/>
          </a:prstGeom>
          <a:ln w="9525">
            <a:solidFill>
              <a:srgbClr val="8A83D1"/>
            </a:solidFill>
          </a:ln>
        </p:spPr>
      </p:pic>
      <p:sp>
        <p:nvSpPr>
          <p:cNvPr id="2231" name="Текст 2231"/>
          <p:cNvSpPr txBox="1"/>
          <p:nvPr/>
        </p:nvSpPr>
        <p:spPr>
          <a:xfrm>
            <a:off x="548640" y="5358384"/>
            <a:ext cx="536752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Вакансия → отклик → статус</a:t>
            </a:r>
            <a:endParaRPr lang="ru-RU" sz="2100"/>
          </a:p>
        </p:txBody>
      </p:sp>
      <p:sp>
        <p:nvSpPr>
          <p:cNvPr id="2232" name="Текст 2232"/>
          <p:cNvSpPr txBox="1"/>
          <p:nvPr/>
        </p:nvSpPr>
        <p:spPr>
          <a:xfrm>
            <a:off x="548640" y="5824728"/>
            <a:ext cx="536752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Работодатель публикует вакансию; кандидат откликается самостоятельно</a:t>
            </a:r>
            <a:endParaRPr lang="ru-RU" sz="1600"/>
          </a:p>
        </p:txBody>
      </p:sp>
      <p:sp>
        <p:nvSpPr>
          <p:cNvPr id="2233" name="Текст 2233"/>
          <p:cNvSpPr txBox="1"/>
          <p:nvPr/>
        </p:nvSpPr>
        <p:spPr>
          <a:xfrm>
            <a:off x="6236208" y="5358384"/>
            <a:ext cx="536752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Короткое задание → ответ → оценка</a:t>
            </a:r>
            <a:endParaRPr lang="ru-RU" sz="2000"/>
          </a:p>
        </p:txBody>
      </p:sp>
      <p:sp>
        <p:nvSpPr>
          <p:cNvPr id="2234" name="Текст 2234"/>
          <p:cNvSpPr txBox="1"/>
          <p:nvPr/>
        </p:nvSpPr>
        <p:spPr>
          <a:xfrm>
            <a:off x="6236208" y="5824728"/>
            <a:ext cx="536752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Проверены выдача задания и ответ кандидата; регулярный цикл требует отдельного пилота</a:t>
            </a:r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Текст 2235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ИНТЕГРАЦИЯ</a:t>
            </a:r>
            <a:endParaRPr lang="ru-RU" sz="1000"/>
          </a:p>
        </p:txBody>
      </p:sp>
      <p:sp>
        <p:nvSpPr>
          <p:cNvPr id="2236" name="Текст 2236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ФСП: демонстрационный адаптер реестра</a:t>
            </a:r>
            <a:endParaRPr lang="ru-RU" sz="3000"/>
          </a:p>
        </p:txBody>
      </p:sp>
      <p:sp>
        <p:nvSpPr>
          <p:cNvPr id="2237" name="Текст 2237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Настоящий реестр не подключён; профиль работает без истории ФСП</a:t>
            </a:r>
            <a:endParaRPr lang="ru-RU" sz="1600"/>
          </a:p>
        </p:txBody>
      </p:sp>
      <p:sp>
        <p:nvSpPr>
          <p:cNvPr id="2238" name="Текст 2238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Источник: docs/api/architecture.md · Кадры приложения: синтетические данные</a:t>
            </a:r>
            <a:endParaRPr lang="ru-RU" sz="1000"/>
          </a:p>
        </p:txBody>
      </p:sp>
      <p:sp>
        <p:nvSpPr>
          <p:cNvPr id="2239" name="Текст 2239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18</a:t>
            </a:r>
            <a:endParaRPr lang="ru-RU" sz="1100"/>
          </a:p>
        </p:txBody>
      </p:sp>
      <p:pic>
        <p:nvPicPr>
          <p:cNvPr id="2240" name="fsp-light.png" descr="Настоящий интерфейс приложения; синтетические данные; фрагмент экрана"/>
          <p:cNvPicPr>
            <a:picLocks noChangeAspect="1"/>
          </p:cNvPicPr>
          <p:nvPr/>
        </p:nvPicPr>
        <p:blipFill>
          <a:blip r:embed="rIdFinal2240"/>
          <a:srcRect l="19097" t="12000" r="2222" b="15500"/>
          <a:stretch>
            <a:fillRect/>
          </a:stretch>
        </p:blipFill>
        <p:spPr>
          <a:xfrm>
            <a:off x="5163017" y="2331720"/>
            <a:ext cx="5858844" cy="3749039"/>
          </a:xfrm>
          <a:prstGeom prst="rect">
            <a:avLst/>
          </a:prstGeom>
          <a:ln w="9525">
            <a:solidFill>
              <a:srgbClr val="8A83D1"/>
            </a:solidFill>
          </a:ln>
        </p:spPr>
      </p:pic>
      <p:sp>
        <p:nvSpPr>
          <p:cNvPr id="2241" name="Текст 2241"/>
          <p:cNvSpPr txBox="1"/>
          <p:nvPr/>
        </p:nvSpPr>
        <p:spPr>
          <a:xfrm>
            <a:off x="548640" y="233172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3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Сейчас</a:t>
            </a:r>
            <a:endParaRPr lang="ru-RU" sz="2300"/>
          </a:p>
        </p:txBody>
      </p:sp>
      <p:sp>
        <p:nvSpPr>
          <p:cNvPr id="2242" name="Текст 2242"/>
          <p:cNvSpPr txBox="1"/>
          <p:nvPr/>
        </p:nvSpPr>
        <p:spPr>
          <a:xfrm>
            <a:off x="548640" y="2862072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Одноразовый код связывает профиль с демо-ID; достижения синтетические. Это не настоящий OIDC</a:t>
            </a:r>
            <a:endParaRPr lang="ru-RU" sz="1900"/>
          </a:p>
        </p:txBody>
      </p:sp>
      <p:sp>
        <p:nvSpPr>
          <p:cNvPr id="2243" name="Текст 2243"/>
          <p:cNvSpPr txBox="1"/>
          <p:nvPr/>
        </p:nvSpPr>
        <p:spPr>
          <a:xfrm>
            <a:off x="548640" y="43891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Реальное подключение</a:t>
            </a:r>
            <a:endParaRPr lang="ru-RU" sz="2000"/>
          </a:p>
        </p:txBody>
      </p:sp>
      <p:sp>
        <p:nvSpPr>
          <p:cNvPr id="2244" name="Текст 2244"/>
          <p:cNvSpPr txBox="1"/>
          <p:nvPr/>
        </p:nvSpPr>
        <p:spPr>
          <a:xfrm>
            <a:off x="548640" y="4892040"/>
            <a:ext cx="3657600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Согласовать ID, владение, исправления и отзыв результатов; затем адаптер ФСП ID / Keycloak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Текст 2245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АРХИТЕКТУРА</a:t>
            </a:r>
            <a:endParaRPr lang="ru-RU" sz="1000"/>
          </a:p>
        </p:txBody>
      </p:sp>
      <p:sp>
        <p:nvSpPr>
          <p:cNvPr id="2246" name="Текст 2246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API соединяет кабинеты и ML-сервисы</a:t>
            </a:r>
            <a:endParaRPr lang="ru-RU" sz="3000"/>
          </a:p>
        </p:txBody>
      </p:sp>
      <p:sp>
        <p:nvSpPr>
          <p:cNvPr id="2247" name="Текст 2247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Компоненты разделяют данные, права и ответственность</a:t>
            </a:r>
            <a:endParaRPr lang="ru-RU" sz="1600"/>
          </a:p>
        </p:txBody>
      </p:sp>
      <p:sp>
        <p:nvSpPr>
          <p:cNvPr id="2248" name="Текст 2248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Источники: docs/api/architecture.md; docs/frontend/architecture.md</a:t>
            </a:r>
            <a:endParaRPr lang="ru-RU" sz="1000"/>
          </a:p>
        </p:txBody>
      </p:sp>
      <p:sp>
        <p:nvSpPr>
          <p:cNvPr id="2249" name="Текст 2249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19</a:t>
            </a:r>
            <a:endParaRPr lang="ru-RU" sz="1100"/>
          </a:p>
        </p:txBody>
      </p:sp>
      <p:sp>
        <p:nvSpPr>
          <p:cNvPr id="2250" name="Блок 2250"/>
          <p:cNvSpPr/>
          <p:nvPr/>
        </p:nvSpPr>
        <p:spPr>
          <a:xfrm>
            <a:off x="548640" y="2468880"/>
            <a:ext cx="2880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51" name="Текст 2251"/>
          <p:cNvSpPr txBox="1"/>
          <p:nvPr/>
        </p:nvSpPr>
        <p:spPr>
          <a:xfrm>
            <a:off x="758952" y="2651760"/>
            <a:ext cx="2459736" cy="36156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Браузер + Nginx</a:t>
            </a:r>
            <a:endParaRPr lang="ru-RU" sz="2100"/>
          </a:p>
        </p:txBody>
      </p:sp>
      <p:sp>
        <p:nvSpPr>
          <p:cNvPr id="2252" name="Текст 2252"/>
          <p:cNvSpPr txBox="1"/>
          <p:nvPr/>
        </p:nvSpPr>
        <p:spPr>
          <a:xfrm>
            <a:off x="758952" y="3113913"/>
            <a:ext cx="2459736" cy="141236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React / TypeScript</a:t>
            </a:r>
            <a:endParaRPr lang="ru-RU" sz="17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Кабинеты обеих ролей; OpenAPI задаёт типы</a:t>
            </a:r>
            <a:endParaRPr lang="ru-RU" sz="1700"/>
          </a:p>
        </p:txBody>
      </p:sp>
      <p:sp>
        <p:nvSpPr>
          <p:cNvPr id="2253" name="Переход 2253"/>
          <p:cNvSpPr/>
          <p:nvPr/>
        </p:nvSpPr>
        <p:spPr>
          <a:xfrm>
            <a:off x="3520440" y="3429000"/>
            <a:ext cx="438912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254" name="Блок 2254"/>
          <p:cNvSpPr/>
          <p:nvPr/>
        </p:nvSpPr>
        <p:spPr>
          <a:xfrm>
            <a:off x="4069080" y="246888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55" name="Текст 2255"/>
          <p:cNvSpPr txBox="1"/>
          <p:nvPr/>
        </p:nvSpPr>
        <p:spPr>
          <a:xfrm>
            <a:off x="4279392" y="2651760"/>
            <a:ext cx="28254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API · FastAPI</a:t>
            </a:r>
            <a:endParaRPr lang="ru-RU" sz="2200"/>
          </a:p>
        </p:txBody>
      </p:sp>
      <p:sp>
        <p:nvSpPr>
          <p:cNvPr id="2256" name="Текст 2256"/>
          <p:cNvSpPr txBox="1"/>
          <p:nvPr/>
        </p:nvSpPr>
        <p:spPr>
          <a:xfrm>
            <a:off x="4279392" y="3128518"/>
            <a:ext cx="2825496" cy="139776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Профили и права</a:t>
            </a:r>
            <a:endParaRPr lang="ru-RU" sz="17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Грейд, приглашения, чат</a:t>
            </a:r>
            <a:endParaRPr lang="ru-RU" sz="17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Сохраняемые операции</a:t>
            </a:r>
            <a:endParaRPr lang="ru-RU" sz="1700"/>
          </a:p>
        </p:txBody>
      </p:sp>
      <p:sp>
        <p:nvSpPr>
          <p:cNvPr id="2257" name="Переход 2257"/>
          <p:cNvSpPr/>
          <p:nvPr/>
        </p:nvSpPr>
        <p:spPr>
          <a:xfrm>
            <a:off x="7424927" y="3017520"/>
            <a:ext cx="438912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258" name="Переход 2258"/>
          <p:cNvSpPr/>
          <p:nvPr/>
        </p:nvSpPr>
        <p:spPr>
          <a:xfrm>
            <a:off x="7424927" y="4361688"/>
            <a:ext cx="438912" cy="201168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</p:sp>
      <p:sp>
        <p:nvSpPr>
          <p:cNvPr id="2259" name="Блок 2259"/>
          <p:cNvSpPr/>
          <p:nvPr/>
        </p:nvSpPr>
        <p:spPr>
          <a:xfrm>
            <a:off x="8001000" y="2194560"/>
            <a:ext cx="3611880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60" name="Текст 2260"/>
          <p:cNvSpPr txBox="1"/>
          <p:nvPr/>
        </p:nvSpPr>
        <p:spPr>
          <a:xfrm>
            <a:off x="8211312" y="2377440"/>
            <a:ext cx="3191256" cy="36156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taskgen</a:t>
            </a:r>
            <a:endParaRPr lang="ru-RU" sz="2100"/>
          </a:p>
        </p:txBody>
      </p:sp>
      <p:sp>
        <p:nvSpPr>
          <p:cNvPr id="2261" name="Текст 2261"/>
          <p:cNvSpPr txBox="1"/>
          <p:nvPr/>
        </p:nvSpPr>
        <p:spPr>
          <a:xfrm>
            <a:off x="8211312" y="2839593"/>
            <a:ext cx="3191256" cy="88201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Задания и оценка</a:t>
            </a:r>
            <a:endParaRPr lang="ru-RU" sz="16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Собственная БД; Piston исполняет код</a:t>
            </a:r>
            <a:endParaRPr lang="ru-RU" sz="1600"/>
          </a:p>
        </p:txBody>
      </p:sp>
      <p:sp>
        <p:nvSpPr>
          <p:cNvPr id="2262" name="Блок 2262"/>
          <p:cNvSpPr/>
          <p:nvPr/>
        </p:nvSpPr>
        <p:spPr>
          <a:xfrm>
            <a:off x="8001000" y="4160520"/>
            <a:ext cx="3611880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63" name="Текст 2263"/>
          <p:cNvSpPr txBox="1"/>
          <p:nvPr/>
        </p:nvSpPr>
        <p:spPr>
          <a:xfrm>
            <a:off x="8211312" y="4343400"/>
            <a:ext cx="3191256" cy="36156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matcher</a:t>
            </a:r>
            <a:endParaRPr lang="ru-RU" sz="2100"/>
          </a:p>
        </p:txBody>
      </p:sp>
      <p:sp>
        <p:nvSpPr>
          <p:cNvPr id="2264" name="Текст 2264"/>
          <p:cNvSpPr txBox="1"/>
          <p:nvPr/>
        </p:nvSpPr>
        <p:spPr>
          <a:xfrm>
            <a:off x="8211312" y="4805553"/>
            <a:ext cx="3191256" cy="88201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7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Фильтр, bge-m3, порядок и объяснения</a:t>
            </a:r>
            <a:endParaRPr lang="ru-RU" sz="1700"/>
          </a:p>
        </p:txBody>
      </p:sp>
      <p:sp>
        <p:nvSpPr>
          <p:cNvPr id="2265" name="Блок 2265"/>
          <p:cNvSpPr/>
          <p:nvPr/>
        </p:nvSpPr>
        <p:spPr>
          <a:xfrm>
            <a:off x="548640" y="5120640"/>
            <a:ext cx="6766560" cy="987552"/>
          </a:xfrm>
          <a:prstGeom prst="roundRect">
            <a:avLst>
              <a:gd name="adj" fmla="val 5000"/>
            </a:avLst>
          </a:prstGeom>
          <a:solidFill>
            <a:srgbClr val="FFD6E4"/>
          </a:solidFill>
          <a:ln w="9525">
            <a:solidFill>
              <a:srgbClr val="FFD6E4"/>
            </a:solidFill>
          </a:ln>
        </p:spPr>
      </p:sp>
      <p:sp>
        <p:nvSpPr>
          <p:cNvPr id="2266" name="Текст 2266"/>
          <p:cNvSpPr txBox="1"/>
          <p:nvPr/>
        </p:nvSpPr>
        <p:spPr>
          <a:xfrm>
            <a:off x="777240" y="5358384"/>
            <a:ext cx="63093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PostgreSQL + pgvector · Раздельные runtime-роли</a:t>
            </a:r>
            <a:endParaRPr lang="ru-RU" sz="16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API владеет профилями; matcher пишет match.*</a:t>
            </a:r>
            <a:endParaRPr lang="ru-RU" sz="1600"/>
          </a:p>
        </p:txBody>
      </p:sp>
      <p:sp>
        <p:nvSpPr>
          <p:cNvPr id="2267" name="Текст 2267"/>
          <p:cNvSpPr txBox="1"/>
          <p:nvPr/>
        </p:nvSpPr>
        <p:spPr>
          <a:xfrm>
            <a:off x="8046720" y="5989320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2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Модели ролей: OpenAI-совместимый API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Текст 2268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ВЫБОР МОДЕЛЕЙ</a:t>
            </a:r>
            <a:endParaRPr lang="ru-RU" sz="1000"/>
          </a:p>
        </p:txBody>
      </p:sp>
      <p:sp>
        <p:nvSpPr>
          <p:cNvPr id="2269" name="Текст 2269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Модели: измеренное и предлагаемое</a:t>
            </a:r>
            <a:endParaRPr lang="ru-RU" sz="3000"/>
          </a:p>
        </p:txBody>
      </p:sp>
      <p:sp>
        <p:nvSpPr>
          <p:cNvPr id="2270" name="Текст 2270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Конфигурация публичного стенда ещё не подтверждена</a:t>
            </a:r>
            <a:endParaRPr lang="ru-RU" sz="1600"/>
          </a:p>
        </p:txBody>
      </p:sp>
      <p:sp>
        <p:nvSpPr>
          <p:cNvPr id="2271" name="Текст 2271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Источники: docs/taskgen/models.md; docs/matcher/validation.md; docs/frontend/validation.md</a:t>
            </a:r>
            <a:endParaRPr lang="ru-RU" sz="1000"/>
          </a:p>
        </p:txBody>
      </p:sp>
      <p:sp>
        <p:nvSpPr>
          <p:cNvPr id="2272" name="Текст 2272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20</a:t>
            </a:r>
            <a:endParaRPr lang="ru-RU" sz="1100"/>
          </a:p>
        </p:txBody>
      </p:sp>
      <p:sp>
        <p:nvSpPr>
          <p:cNvPr id="2273" name="Блок 2273"/>
          <p:cNvSpPr/>
          <p:nvPr/>
        </p:nvSpPr>
        <p:spPr>
          <a:xfrm>
            <a:off x="54864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74" name="Текст 2274"/>
          <p:cNvSpPr txBox="1"/>
          <p:nvPr/>
        </p:nvSpPr>
        <p:spPr>
          <a:xfrm>
            <a:off x="75895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Локальный тест</a:t>
            </a:r>
            <a:endParaRPr lang="ru-RU" sz="2200"/>
          </a:p>
        </p:txBody>
      </p:sp>
      <p:sp>
        <p:nvSpPr>
          <p:cNvPr id="2275" name="Текст 2275"/>
          <p:cNvSpPr txBox="1"/>
          <p:nvPr/>
        </p:nvSpPr>
        <p:spPr>
          <a:xfrm>
            <a:off x="75895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GigaChat 3.1 через Ollama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RTX 3060, 12 ГБ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Генерация: 9 / 10 шаблонов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живом UI-прогоне потерян факт; набор корректно отклонён</a:t>
            </a:r>
            <a:endParaRPr lang="ru-RU" sz="1800"/>
          </a:p>
        </p:txBody>
      </p:sp>
      <p:sp>
        <p:nvSpPr>
          <p:cNvPr id="2276" name="Блок 2276"/>
          <p:cNvSpPr/>
          <p:nvPr/>
        </p:nvSpPr>
        <p:spPr>
          <a:xfrm>
            <a:off x="434340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77" name="Текст 2277"/>
          <p:cNvSpPr txBox="1"/>
          <p:nvPr/>
        </p:nvSpPr>
        <p:spPr>
          <a:xfrm>
            <a:off x="455371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Облачные замеры</a:t>
            </a:r>
            <a:endParaRPr lang="ru-RU" sz="2200"/>
          </a:p>
        </p:txBody>
      </p:sp>
      <p:sp>
        <p:nvSpPr>
          <p:cNvPr id="2278" name="Текст 2278"/>
          <p:cNvSpPr txBox="1"/>
          <p:nvPr/>
        </p:nvSpPr>
        <p:spPr>
          <a:xfrm>
            <a:off x="455371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DeepSeek Flash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Генерация: 10 / 10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Подбор: nDCG@10 до 0.962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Проверено существующими наборами, без заявлений о качестве найма</a:t>
            </a:r>
            <a:endParaRPr lang="ru-RU" sz="1800"/>
          </a:p>
        </p:txBody>
      </p:sp>
      <p:sp>
        <p:nvSpPr>
          <p:cNvPr id="2279" name="Блок 2279"/>
          <p:cNvSpPr/>
          <p:nvPr/>
        </p:nvSpPr>
        <p:spPr>
          <a:xfrm>
            <a:off x="813816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80" name="Текст 2280"/>
          <p:cNvSpPr txBox="1"/>
          <p:nvPr/>
        </p:nvSpPr>
        <p:spPr>
          <a:xfrm>
            <a:off x="834847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План стенда</a:t>
            </a:r>
            <a:endParaRPr lang="ru-RU" sz="2200"/>
          </a:p>
        </p:txBody>
      </p:sp>
      <p:sp>
        <p:nvSpPr>
          <p:cNvPr id="2281" name="Текст 2281"/>
          <p:cNvSpPr txBox="1"/>
          <p:nvPr/>
        </p:nvSpPr>
        <p:spPr>
          <a:xfrm>
            <a:off x="834847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DeepSeek Flash для LLM-ролей — проверенный кандидат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bge-m3 через отдельный endpoint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Доступность, лимиты и стоимость этого развёртывания ещё требуют проверки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Текст 2282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ВАЛИДАЦИЯ ИНТЕРФЕЙСА</a:t>
            </a:r>
            <a:endParaRPr lang="ru-RU" sz="1000"/>
          </a:p>
        </p:txBody>
      </p:sp>
      <p:sp>
        <p:nvSpPr>
          <p:cNvPr id="2283" name="Текст 2283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Сквозные проверки подтверждают сценарии</a:t>
            </a:r>
            <a:endParaRPr lang="ru-RU" sz="3000"/>
          </a:p>
        </p:txBody>
      </p:sp>
      <p:sp>
        <p:nvSpPr>
          <p:cNvPr id="2284" name="Текст 2284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Локальные сервисы и браузер; синтетический набор для масштаба</a:t>
            </a:r>
            <a:endParaRPr lang="ru-RU" sz="1600"/>
          </a:p>
        </p:txBody>
      </p:sp>
      <p:sp>
        <p:nvSpPr>
          <p:cNvPr id="2285" name="Текст 228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Источник: docs/frontend/validation.md · Срез 11.10.2026</a:t>
            </a:r>
            <a:endParaRPr lang="ru-RU" sz="1000"/>
          </a:p>
        </p:txBody>
      </p:sp>
      <p:sp>
        <p:nvSpPr>
          <p:cNvPr id="2286" name="Текст 2286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21</a:t>
            </a:r>
            <a:endParaRPr lang="ru-RU" sz="1100"/>
          </a:p>
        </p:txBody>
      </p:sp>
      <p:sp>
        <p:nvSpPr>
          <p:cNvPr id="2287" name="Блок 2287"/>
          <p:cNvSpPr/>
          <p:nvPr/>
        </p:nvSpPr>
        <p:spPr>
          <a:xfrm>
            <a:off x="548640" y="2331720"/>
            <a:ext cx="53675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88" name="Текст 2288"/>
          <p:cNvSpPr txBox="1"/>
          <p:nvPr/>
        </p:nvSpPr>
        <p:spPr>
          <a:xfrm>
            <a:off x="758952" y="2514600"/>
            <a:ext cx="4946904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Путь кандидата</a:t>
            </a:r>
            <a:endParaRPr lang="ru-RU" sz="2200"/>
          </a:p>
        </p:txBody>
      </p:sp>
      <p:sp>
        <p:nvSpPr>
          <p:cNvPr id="2289" name="Текст 2289"/>
          <p:cNvSpPr txBox="1"/>
          <p:nvPr/>
        </p:nvSpPr>
        <p:spPr>
          <a:xfrm>
            <a:off x="758952" y="2991358"/>
            <a:ext cx="4946904" cy="103200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Регистрация → SMTP-письмо → профиль → PDF → опрос</a:t>
            </a:r>
            <a:endParaRPr lang="ru-RU" sz="15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Локальный GigaChat отклонил генерацию: редактор не появился, категория не присвоена</a:t>
            </a:r>
            <a:endParaRPr lang="ru-RU" sz="1500"/>
          </a:p>
        </p:txBody>
      </p:sp>
      <p:sp>
        <p:nvSpPr>
          <p:cNvPr id="2290" name="Блок 2290"/>
          <p:cNvSpPr/>
          <p:nvPr/>
        </p:nvSpPr>
        <p:spPr>
          <a:xfrm>
            <a:off x="6236208" y="2331720"/>
            <a:ext cx="53675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91" name="Текст 2291"/>
          <p:cNvSpPr txBox="1"/>
          <p:nvPr/>
        </p:nvSpPr>
        <p:spPr>
          <a:xfrm>
            <a:off x="6446520" y="2514600"/>
            <a:ext cx="4946904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Путь работодателя</a:t>
            </a:r>
            <a:endParaRPr lang="ru-RU" sz="2200"/>
          </a:p>
        </p:txBody>
      </p:sp>
      <p:sp>
        <p:nvSpPr>
          <p:cNvPr id="2292" name="Текст 2292"/>
          <p:cNvSpPr txBox="1"/>
          <p:nvPr/>
        </p:nvSpPr>
        <p:spPr>
          <a:xfrm>
            <a:off x="6446520" y="2991358"/>
            <a:ext cx="4946904" cy="103200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Подбор → карты → предложение с зарплатой → чат</a:t>
            </a:r>
            <a:endParaRPr lang="ru-RU" sz="16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Отдельно: вакансия, отклик, задание и ответ</a:t>
            </a:r>
            <a:endParaRPr lang="ru-RU" sz="1600"/>
          </a:p>
        </p:txBody>
      </p:sp>
      <p:sp>
        <p:nvSpPr>
          <p:cNvPr id="2293" name="Блок 2293"/>
          <p:cNvSpPr/>
          <p:nvPr/>
        </p:nvSpPr>
        <p:spPr>
          <a:xfrm>
            <a:off x="548640" y="4480560"/>
            <a:ext cx="5367528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94" name="Текст 2294"/>
          <p:cNvSpPr txBox="1"/>
          <p:nvPr/>
        </p:nvSpPr>
        <p:spPr>
          <a:xfrm>
            <a:off x="758952" y="4663440"/>
            <a:ext cx="4946904" cy="4199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5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1200 профилей Faker</a:t>
            </a:r>
            <a:endParaRPr lang="ru-RU" sz="2500"/>
          </a:p>
        </p:txBody>
      </p:sp>
      <p:sp>
        <p:nvSpPr>
          <p:cNvPr id="2295" name="Текст 2295"/>
          <p:cNvSpPr txBox="1"/>
          <p:nvPr/>
        </p:nvSpPr>
        <p:spPr>
          <a:xfrm>
            <a:off x="758952" y="5184013"/>
            <a:ext cx="4946904" cy="82359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Повторное наполнение добавило 0 записей</a:t>
            </a:r>
            <a:endParaRPr lang="ru-RU" sz="16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Векторный прогон рассмотрел 183 профиля; это не набор реальных кандидатов</a:t>
            </a:r>
            <a:endParaRPr lang="ru-RU" sz="1600"/>
          </a:p>
        </p:txBody>
      </p:sp>
      <p:sp>
        <p:nvSpPr>
          <p:cNvPr id="2296" name="Блок 2296"/>
          <p:cNvSpPr/>
          <p:nvPr/>
        </p:nvSpPr>
        <p:spPr>
          <a:xfrm>
            <a:off x="6236208" y="4480560"/>
            <a:ext cx="5367528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297" name="Текст 2297"/>
          <p:cNvSpPr txBox="1"/>
          <p:nvPr/>
        </p:nvSpPr>
        <p:spPr>
          <a:xfrm>
            <a:off x="6446520" y="4663440"/>
            <a:ext cx="4946904" cy="3469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Опубликованные проверки</a:t>
            </a:r>
            <a:endParaRPr lang="ru-RU" sz="2000"/>
          </a:p>
        </p:txBody>
      </p:sp>
      <p:sp>
        <p:nvSpPr>
          <p:cNvPr id="2298" name="Текст 2298"/>
          <p:cNvSpPr txBox="1"/>
          <p:nvPr/>
        </p:nvSpPr>
        <p:spPr>
          <a:xfrm>
            <a:off x="6446520" y="5110988"/>
            <a:ext cx="4946904" cy="8966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5 Vitest · 6 Playwright без повторов</a:t>
            </a:r>
            <a:endParaRPr lang="ru-RU" sz="15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40 API · 155 matcher · 19 бренд-системы</a:t>
            </a:r>
            <a:endParaRPr lang="ru-RU" sz="15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Нагрузка пользователей не измерена</a:t>
            </a:r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Текст 2313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ПОСЛЕ ХАКАТОНА</a:t>
            </a:r>
            <a:endParaRPr lang="ru-RU" sz="1000"/>
          </a:p>
        </p:txBody>
      </p:sp>
      <p:sp>
        <p:nvSpPr>
          <p:cNvPr id="2314" name="Текст 2314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Развитие и бизнес-гипотеза</a:t>
            </a:r>
            <a:endParaRPr lang="ru-RU" sz="3000"/>
          </a:p>
        </p:txBody>
      </p:sp>
      <p:sp>
        <p:nvSpPr>
          <p:cNvPr id="2315" name="Текст 2315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Переход к продукту зависит от результатов пилота</a:t>
            </a:r>
            <a:endParaRPr lang="ru-RU" sz="1600"/>
          </a:p>
        </p:txBody>
      </p:sp>
      <p:sp>
        <p:nvSpPr>
          <p:cNvPr id="2316" name="Текст 2316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/>
            </a:r>
            <a:endParaRPr lang="ru-RU" sz="1000"/>
          </a:p>
        </p:txBody>
      </p:sp>
      <p:sp>
        <p:nvSpPr>
          <p:cNvPr id="2317" name="Текст 2317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23</a:t>
            </a:r>
            <a:endParaRPr lang="ru-RU" sz="1100"/>
          </a:p>
        </p:txBody>
      </p:sp>
      <p:sp>
        <p:nvSpPr>
          <p:cNvPr id="2318" name="Блок 2318"/>
          <p:cNvSpPr/>
          <p:nvPr/>
        </p:nvSpPr>
        <p:spPr>
          <a:xfrm>
            <a:off x="54864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319" name="Текст 2319"/>
          <p:cNvSpPr txBox="1"/>
          <p:nvPr/>
        </p:nvSpPr>
        <p:spPr>
          <a:xfrm>
            <a:off x="75895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Доверие</a:t>
            </a:r>
            <a:endParaRPr lang="ru-RU" sz="2200"/>
          </a:p>
        </p:txBody>
      </p:sp>
      <p:sp>
        <p:nvSpPr>
          <p:cNvPr id="2320" name="Текст 2320"/>
          <p:cNvSpPr txBox="1"/>
          <p:nvPr/>
        </p:nvSpPr>
        <p:spPr>
          <a:xfrm>
            <a:off x="75895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Реальный реестр и ФСП ID</a:t>
            </a:r>
            <a:endParaRPr lang="ru-RU" sz="19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Модерация компаний и вакансий</a:t>
            </a:r>
            <a:endParaRPr lang="ru-RU" sz="19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Больше шаблонов и параметров, которые меняют правильный ответ</a:t>
            </a:r>
            <a:endParaRPr lang="ru-RU" sz="1900"/>
          </a:p>
        </p:txBody>
      </p:sp>
      <p:sp>
        <p:nvSpPr>
          <p:cNvPr id="2321" name="Блок 2321"/>
          <p:cNvSpPr/>
          <p:nvPr/>
        </p:nvSpPr>
        <p:spPr>
          <a:xfrm>
            <a:off x="434340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322" name="Текст 2322"/>
          <p:cNvSpPr txBox="1"/>
          <p:nvPr/>
        </p:nvSpPr>
        <p:spPr>
          <a:xfrm>
            <a:off x="455371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Встраивание</a:t>
            </a:r>
            <a:endParaRPr lang="ru-RU" sz="2200"/>
          </a:p>
        </p:txBody>
      </p:sp>
      <p:sp>
        <p:nvSpPr>
          <p:cNvPr id="2323" name="Текст 2323"/>
          <p:cNvSpPr txBox="1"/>
          <p:nvPr/>
        </p:nvSpPr>
        <p:spPr>
          <a:xfrm>
            <a:off x="455371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Интеграция с ATS</a:t>
            </a:r>
            <a:endParaRPr lang="ru-RU" sz="19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Регулярный цикл коротких заданий</a:t>
            </a:r>
            <a:endParaRPr lang="ru-RU" sz="19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роста пула и одновременной работы пользователей</a:t>
            </a:r>
            <a:endParaRPr lang="ru-RU" sz="1900"/>
          </a:p>
        </p:txBody>
      </p:sp>
      <p:sp>
        <p:nvSpPr>
          <p:cNvPr id="2324" name="Блок 2324"/>
          <p:cNvSpPr/>
          <p:nvPr/>
        </p:nvSpPr>
        <p:spPr>
          <a:xfrm>
            <a:off x="813816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325" name="Текст 2325"/>
          <p:cNvSpPr txBox="1"/>
          <p:nvPr/>
        </p:nvSpPr>
        <p:spPr>
          <a:xfrm>
            <a:off x="834847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Экономика</a:t>
            </a:r>
            <a:endParaRPr lang="ru-RU" sz="2200"/>
          </a:p>
        </p:txBody>
      </p:sp>
      <p:sp>
        <p:nvSpPr>
          <p:cNvPr id="2326" name="Текст 2326"/>
          <p:cNvSpPr txBox="1"/>
          <p:nvPr/>
        </p:nvSpPr>
        <p:spPr>
          <a:xfrm>
            <a:off x="834847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B2B-подписка работодателя — гипотеза, не выручка</a:t>
            </a:r>
            <a:endParaRPr lang="ru-RU" sz="19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Пилот проверит готовность платить</a:t>
            </a:r>
            <a:endParaRPr lang="ru-RU" sz="19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9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Токены, задержка и полезные контакты определят стоимость сценария</a:t>
            </a:r>
            <a:endParaRPr lang="ru-RU" sz="1900"/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2327" name="Текст 2327"/>
          <p:cNvSpPr txBox="1"/>
          <p:nvPr/>
        </p:nvSpPr>
        <p:spPr>
          <a:xfrm>
            <a:off x="594360" y="2697480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6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Сцепка</a:t>
            </a:r>
            <a:endParaRPr lang="ru-RU" sz="6400"/>
          </a:p>
        </p:txBody>
      </p:sp>
      <p:sp>
        <p:nvSpPr>
          <p:cNvPr id="2328" name="Текст 2328"/>
          <p:cNvSpPr txBox="1"/>
          <p:nvPr/>
        </p:nvSpPr>
        <p:spPr>
          <a:xfrm>
            <a:off x="594360" y="3767328"/>
            <a:ext cx="585216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Навыки подтверждены</a:t>
            </a:r>
            <a:endParaRPr lang="ru-RU" sz="25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Условия названы</a:t>
            </a:r>
            <a:endParaRPr lang="ru-RU" sz="25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Первый шаг — за работодателем</a:t>
            </a:r>
            <a:endParaRPr lang="ru-RU" sz="2500"/>
          </a:p>
        </p:txBody>
      </p:sp>
      <p:sp>
        <p:nvSpPr>
          <p:cNvPr id="2329" name="Текст 2329"/>
          <p:cNvSpPr txBox="1"/>
          <p:nvPr/>
        </p:nvSpPr>
        <p:spPr>
          <a:xfrm>
            <a:off x="594360" y="5513832"/>
            <a:ext cx="6583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Код: github.com/IDaniil228/hackathon</a:t>
            </a:r>
            <a:endParaRPr lang="ru-RU" sz="13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План публикации: scepka.rokokol.art</a:t>
            </a:r>
            <a:endParaRPr lang="ru-RU" sz="13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Документация: docs.scepka.rokokol.art</a:t>
            </a:r>
            <a:endParaRPr lang="ru-RU" sz="1300"/>
          </a:p>
        </p:txBody>
      </p:sp>
      <p:sp>
        <p:nvSpPr>
          <p:cNvPr id="2330" name="Текст 2330"/>
          <p:cNvSpPr txBox="1"/>
          <p:nvPr/>
        </p:nvSpPr>
        <p:spPr>
          <a:xfrm>
            <a:off x="594360" y="6446520"/>
            <a:ext cx="6583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Доступность адресов не подтверждена на 11.10.2026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Текст 2102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КАТЕГОРИЗАЦИЯ</a:t>
            </a:r>
            <a:endParaRPr lang="ru-RU" sz="1000"/>
          </a:p>
        </p:txBody>
      </p:sp>
      <p:sp>
        <p:nvSpPr>
          <p:cNvPr id="2103" name="Текст 2103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Категорию определяют доказательства по уровням</a:t>
            </a:r>
            <a:endParaRPr lang="ru-RU" sz="3000"/>
          </a:p>
        </p:txBody>
      </p:sp>
      <p:sp>
        <p:nvSpPr>
          <p:cNvPr id="2104" name="Текст 2104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Категория = специализация + грейд; API применяет результат</a:t>
            </a:r>
            <a:endParaRPr lang="ru-RU" sz="1600"/>
          </a:p>
        </p:txBody>
      </p:sp>
      <p:sp>
        <p:nvSpPr>
          <p:cNvPr id="2105" name="Текст 210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Источники: docs/taskgen/testing-mechanics.md; docs/api/architecture.md</a:t>
            </a:r>
            <a:endParaRPr lang="ru-RU" sz="1000"/>
          </a:p>
        </p:txBody>
      </p:sp>
      <p:sp>
        <p:nvSpPr>
          <p:cNvPr id="2106" name="Текст 2106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09</a:t>
            </a:r>
            <a:endParaRPr lang="ru-RU" sz="1100"/>
          </a:p>
        </p:txBody>
      </p:sp>
      <p:sp>
        <p:nvSpPr>
          <p:cNvPr id="2107" name="Блок 2107"/>
          <p:cNvSpPr/>
          <p:nvPr/>
        </p:nvSpPr>
        <p:spPr>
          <a:xfrm>
            <a:off x="54864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08" name="Текст 2108"/>
          <p:cNvSpPr txBox="1"/>
          <p:nvPr/>
        </p:nvSpPr>
        <p:spPr>
          <a:xfrm>
            <a:off x="75895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Достаточность</a:t>
            </a:r>
            <a:endParaRPr lang="ru-RU" sz="2200"/>
          </a:p>
        </p:txBody>
      </p:sp>
      <p:sp>
        <p:nvSpPr>
          <p:cNvPr id="2109" name="Текст 2109"/>
          <p:cNvSpPr txBox="1"/>
          <p:nvPr/>
        </p:nvSpPr>
        <p:spPr>
          <a:xfrm>
            <a:off x="75895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Нужны задания с кодом и эссе заявленного уровня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Без достаточного числа — insufficient, без нового грейда</a:t>
            </a:r>
            <a:endParaRPr lang="ru-RU" sz="1800"/>
          </a:p>
        </p:txBody>
      </p:sp>
      <p:sp>
        <p:nvSpPr>
          <p:cNvPr id="2110" name="Блок 2110"/>
          <p:cNvSpPr/>
          <p:nvPr/>
        </p:nvSpPr>
        <p:spPr>
          <a:xfrm>
            <a:off x="434340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11" name="Текст 2111"/>
          <p:cNvSpPr txBox="1"/>
          <p:nvPr/>
        </p:nvSpPr>
        <p:spPr>
          <a:xfrm>
            <a:off x="455371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Подтверждение</a:t>
            </a:r>
            <a:endParaRPr lang="ru-RU" sz="2200"/>
          </a:p>
        </p:txBody>
      </p:sp>
      <p:sp>
        <p:nvSpPr>
          <p:cNvPr id="2112" name="Текст 2112"/>
          <p:cNvSpPr txBox="1"/>
          <p:nvPr/>
        </p:nvSpPr>
        <p:spPr>
          <a:xfrm>
            <a:off x="455371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Уровень проходит порог доли решённых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Решённые задания младших уровней вместе поддерживают старший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Выбирается старший подтверждённый</a:t>
            </a:r>
            <a:endParaRPr lang="ru-RU" sz="1800"/>
          </a:p>
        </p:txBody>
      </p:sp>
      <p:sp>
        <p:nvSpPr>
          <p:cNvPr id="2113" name="Блок 2113"/>
          <p:cNvSpPr/>
          <p:nvPr/>
        </p:nvSpPr>
        <p:spPr>
          <a:xfrm>
            <a:off x="813816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114" name="Текст 2114"/>
          <p:cNvSpPr txBox="1"/>
          <p:nvPr/>
        </p:nvSpPr>
        <p:spPr>
          <a:xfrm>
            <a:off x="834847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Применение</a:t>
            </a:r>
            <a:endParaRPr lang="ru-RU" sz="2200"/>
          </a:p>
        </p:txBody>
      </p:sp>
      <p:sp>
        <p:nvSpPr>
          <p:cNvPr id="2115" name="Текст 2115"/>
          <p:cNvSpPr txBox="1"/>
          <p:nvPr/>
        </p:nvSpPr>
        <p:spPr>
          <a:xfrm>
            <a:off x="834847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Провал не понижает категорию принудительно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Сервис рекомендует повтор или другой уровень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API хранит историю и ограничивает частоту смены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Текст 2299"/>
          <p:cNvSpPr txBox="1"/>
          <p:nvPr/>
        </p:nvSpPr>
        <p:spPr>
          <a:xfrm>
            <a:off x="548640" y="42062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ПЛАН ВАЛИДАЦИИ</a:t>
            </a:r>
            <a:endParaRPr lang="ru-RU" sz="1000"/>
          </a:p>
        </p:txBody>
      </p:sp>
      <p:sp>
        <p:nvSpPr>
          <p:cNvPr id="2300" name="Текст 2300"/>
          <p:cNvSpPr txBox="1"/>
          <p:nvPr/>
        </p:nvSpPr>
        <p:spPr>
          <a:xfrm>
            <a:off x="548640" y="905256"/>
            <a:ext cx="110642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Следующий этап — независимый пилот</a:t>
            </a:r>
            <a:endParaRPr lang="ru-RU" sz="3000"/>
          </a:p>
        </p:txBody>
      </p:sp>
      <p:sp>
        <p:nvSpPr>
          <p:cNvPr id="2301" name="Текст 2301"/>
          <p:cNvSpPr txBox="1"/>
          <p:nvPr/>
        </p:nvSpPr>
        <p:spPr>
          <a:xfrm>
            <a:off x="548640" y="1600200"/>
            <a:ext cx="11064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Процедура подготовлена; результатов на реальных кандидатах ещё нет</a:t>
            </a:r>
            <a:endParaRPr lang="ru-RU" sz="1600"/>
          </a:p>
        </p:txBody>
      </p:sp>
      <p:sp>
        <p:nvSpPr>
          <p:cNvPr id="2302" name="Текст 2302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Источники: docs/taskgen/validation.md; docs/matcher/validation.md</a:t>
            </a:r>
            <a:endParaRPr lang="ru-RU" sz="1000"/>
          </a:p>
        </p:txBody>
      </p:sp>
      <p:sp>
        <p:nvSpPr>
          <p:cNvPr id="2303" name="Текст 2303"/>
          <p:cNvSpPr txBox="1"/>
          <p:nvPr/>
        </p:nvSpPr>
        <p:spPr>
          <a:xfrm>
            <a:off x="11201400" y="64282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22</a:t>
            </a:r>
            <a:endParaRPr lang="ru-RU" sz="1100"/>
          </a:p>
        </p:txBody>
      </p:sp>
      <p:sp>
        <p:nvSpPr>
          <p:cNvPr id="2304" name="Блок 2304"/>
          <p:cNvSpPr/>
          <p:nvPr/>
        </p:nvSpPr>
        <p:spPr>
          <a:xfrm>
            <a:off x="54864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305" name="Текст 2305"/>
          <p:cNvSpPr txBox="1"/>
          <p:nvPr/>
        </p:nvSpPr>
        <p:spPr>
          <a:xfrm>
            <a:off x="75895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Тестирование</a:t>
            </a:r>
            <a:endParaRPr lang="ru-RU" sz="2200"/>
          </a:p>
        </p:txBody>
      </p:sp>
      <p:sp>
        <p:nvSpPr>
          <p:cNvPr id="2306" name="Текст 2306"/>
          <p:cNvSpPr txBox="1"/>
          <p:nvPr/>
        </p:nvSpPr>
        <p:spPr>
          <a:xfrm>
            <a:off x="75895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Собрать ответы пилотных кандидатов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Сравнить грейд с экспертной оценкой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Измерить стабильность повторных тестов и разделение уровней</a:t>
            </a:r>
            <a:endParaRPr lang="ru-RU" sz="1800"/>
          </a:p>
        </p:txBody>
      </p:sp>
      <p:sp>
        <p:nvSpPr>
          <p:cNvPr id="2307" name="Блок 2307"/>
          <p:cNvSpPr/>
          <p:nvPr/>
        </p:nvSpPr>
        <p:spPr>
          <a:xfrm>
            <a:off x="434340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308" name="Текст 2308"/>
          <p:cNvSpPr txBox="1"/>
          <p:nvPr/>
        </p:nvSpPr>
        <p:spPr>
          <a:xfrm>
            <a:off x="455371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Подбор</a:t>
            </a:r>
            <a:endParaRPr lang="ru-RU" sz="2200"/>
          </a:p>
        </p:txBody>
      </p:sp>
      <p:sp>
        <p:nvSpPr>
          <p:cNvPr id="2309" name="Текст 2309"/>
          <p:cNvSpPr txBox="1"/>
          <p:nvPr/>
        </p:nvSpPr>
        <p:spPr>
          <a:xfrm>
            <a:off x="455371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Эксперт размечает top-10 и случайную выборку вне него, не видит ранги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Считать nDCG и recall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Сравнить K на больших пулах и разные тексты запроса</a:t>
            </a:r>
            <a:endParaRPr lang="ru-RU" sz="1800"/>
          </a:p>
        </p:txBody>
      </p:sp>
      <p:sp>
        <p:nvSpPr>
          <p:cNvPr id="2310" name="Блок 2310"/>
          <p:cNvSpPr/>
          <p:nvPr/>
        </p:nvSpPr>
        <p:spPr>
          <a:xfrm>
            <a:off x="8138160" y="2331720"/>
            <a:ext cx="347472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</p:spPr>
      </p:sp>
      <p:sp>
        <p:nvSpPr>
          <p:cNvPr id="2311" name="Текст 2311"/>
          <p:cNvSpPr txBox="1"/>
          <p:nvPr/>
        </p:nvSpPr>
        <p:spPr>
          <a:xfrm>
            <a:off x="8348472" y="2514600"/>
            <a:ext cx="3054096" cy="37617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2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Польза продукта</a:t>
            </a:r>
            <a:endParaRPr lang="ru-RU" sz="2200"/>
          </a:p>
        </p:txBody>
      </p:sp>
      <p:sp>
        <p:nvSpPr>
          <p:cNvPr id="2312" name="Текст 2312"/>
          <p:cNvSpPr txBox="1"/>
          <p:nvPr/>
        </p:nvSpPr>
        <p:spPr>
          <a:xfrm>
            <a:off x="8348472" y="2991358"/>
            <a:ext cx="3054096" cy="2970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Измерять приглашения по позиции выдачи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Проверять объяснения вручную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Измерять время до полезного контакта</a:t>
            </a:r>
            <a:endParaRPr lang="ru-RU" sz="1800"/>
          </a:p>
          <a:p>
            <a:pPr>
              <a:lnSpc>
                <a:spcPct val="110000"/>
              </a:lnSpc>
              <a:spcAft>
                <a:spcPts val="6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Отдельно проверять нагрузку и стоимость моделей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24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