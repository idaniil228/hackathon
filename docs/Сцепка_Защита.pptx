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76" r:id="rId45"/>
    <p:sldId id="377" r:id="rId46"/>
    <p:sldId id="378" r:id="rId47"/>
    <p:sldId id="379" r:id="rId48"/>
    <p:sldId id="380" r:id="rId49"/>
    <p:sldId id="381" r:id="rId50"/>
    <p:sldId id="382" r:id="rId51"/>
    <p:sldId id="383" r:id="rId52"/>
    <p:sldId id="384" r:id="rId53"/>
    <p:sldId id="385" r:id="rId54"/>
    <p:sldId id="386" r:id="rId55"/>
    <p:sldId id="387" r:id="rId56"/>
    <p:sldId id="388" r:id="rId57"/>
    <p:sldId id="389" r:id="rId58"/>
    <p:sldId id="390" r:id="rId59"/>
    <p:sldId id="391" r:id="rId60"/>
    <p:sldId id="392" r:id="rId61"/>
    <p:sldId id="393" r:id="rId62"/>
    <p:sldId id="394" r:id="rId63"/>
    <p:sldId id="395" r:id="rId64"/>
    <p:sldId id="396" r:id="rId65"/>
    <p:sldId id="397" r:id="rId66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40" Type="http://schemas.openxmlformats.org/officeDocument/2006/relationships/handoutMaster" Target="handoutMasters/handoutMaster1.xml"/><Relationship Id="rId44" Type="http://schemas.openxmlformats.org/officeDocument/2006/relationships/tableStyles" Target="tableStyles.xml"/><Relationship Id="rId43" Type="http://schemas.openxmlformats.org/officeDocument/2006/relationships/theme" Target="theme/theme1.xml"/>  <Relationship Id="rId45" Type="http://schemas.openxmlformats.org/officeDocument/2006/relationships/slide" Target="slides/slide38.xml"/>
  <Relationship Id="rId46" Type="http://schemas.openxmlformats.org/officeDocument/2006/relationships/slide" Target="slides/slide39.xml"/>
  <Relationship Id="rId47" Type="http://schemas.openxmlformats.org/officeDocument/2006/relationships/slide" Target="slides/slide40.xml"/>
  <Relationship Id="rId48" Type="http://schemas.openxmlformats.org/officeDocument/2006/relationships/slide" Target="slides/slide41.xml"/>
  <Relationship Id="rId49" Type="http://schemas.openxmlformats.org/officeDocument/2006/relationships/slide" Target="slides/slide42.xml"/>
  <Relationship Id="rId50" Type="http://schemas.openxmlformats.org/officeDocument/2006/relationships/slide" Target="slides/slide43.xml"/>
  <Relationship Id="rId51" Type="http://schemas.openxmlformats.org/officeDocument/2006/relationships/slide" Target="slides/slide44.xml"/>
  <Relationship Id="rId52" Type="http://schemas.openxmlformats.org/officeDocument/2006/relationships/slide" Target="slides/slide45.xml"/>
  <Relationship Id="rId53" Type="http://schemas.openxmlformats.org/officeDocument/2006/relationships/slide" Target="slides/slide46.xml"/>
  <Relationship Id="rId54" Type="http://schemas.openxmlformats.org/officeDocument/2006/relationships/slide" Target="slides/slide47.xml"/>
  <Relationship Id="rId55" Type="http://schemas.openxmlformats.org/officeDocument/2006/relationships/slide" Target="slides/slide48.xml"/>
  <Relationship Id="rId56" Type="http://schemas.openxmlformats.org/officeDocument/2006/relationships/slide" Target="slides/slide49.xml"/>
  <Relationship Id="rId57" Type="http://schemas.openxmlformats.org/officeDocument/2006/relationships/slide" Target="slides/slide50.xml"/>
  <Relationship Id="rId58" Type="http://schemas.openxmlformats.org/officeDocument/2006/relationships/slide" Target="slides/slide51.xml"/>
  <Relationship Id="rId59" Type="http://schemas.openxmlformats.org/officeDocument/2006/relationships/slide" Target="slides/slide52.xml"/>
  <Relationship Id="rId60" Type="http://schemas.openxmlformats.org/officeDocument/2006/relationships/slide" Target="slides/slide53.xml"/>
  <Relationship Id="rId61" Type="http://schemas.openxmlformats.org/officeDocument/2006/relationships/slide" Target="slides/slide54.xml"/>
  <Relationship Id="rId62" Type="http://schemas.openxmlformats.org/officeDocument/2006/relationships/slide" Target="slides/slide55.xml"/>
  <Relationship Id="rId63" Type="http://schemas.openxmlformats.org/officeDocument/2006/relationships/slide" Target="slides/slide56.xml"/>
  <Relationship Id="rId64" Type="http://schemas.openxmlformats.org/officeDocument/2006/relationships/slide" Target="slides/slide57.xml"/>
  <Relationship Id="rId65" Type="http://schemas.openxmlformats.org/officeDocument/2006/relationships/slide" Target="slides/slide58.xml"/>
  <Relationship Id="rId66" Type="http://schemas.openxmlformats.org/officeDocument/2006/relationships/slide" Target="slides/slide59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02.10.2026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02.10.2026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02.10.2026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02.10.2026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38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0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4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2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Scepka1200" Type="http://schemas.openxmlformats.org/officeDocument/2006/relationships/image" Target="../media/scepka-employer-dashboard-light.png"/></Relationships>
</file>

<file path=ppt/slides/_rels/slide43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Scepka1200" Type="http://schemas.openxmlformats.org/officeDocument/2006/relationships/image" Target="../media/scepka-assessment-light.png"/></Relationships>
</file>

<file path=ppt/slides/_rels/slide44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4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6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47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48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9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50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Relationship Id="rIdScepka1200" Type="http://schemas.openxmlformats.org/officeDocument/2006/relationships/image" Target="../media/scepka-search-cloud-light.png"/><Relationship Id="rIdScepka1201" Type="http://schemas.openxmlformats.org/officeDocument/2006/relationships/image" Target="../media/scepka-search-radial-dark.png"/></Relationships>
</file>

<file path=ppt/slides/_rels/slide51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52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Scepka1200" Type="http://schemas.openxmlformats.org/officeDocument/2006/relationships/image" Target="../media/scepka-conversation-light.png"/></Relationships>
</file>

<file path=ppt/slides/_rels/slide53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Relationship Id="rIdScepka1200" Type="http://schemas.openxmlformats.org/officeDocument/2006/relationships/image" Target="../media/scepka-applications-light.png"/><Relationship Id="rIdScepka1201" Type="http://schemas.openxmlformats.org/officeDocument/2006/relationships/image" Target="../media/scepka-assignment-answer-light.png"/></Relationships>
</file>

<file path=ppt/slides/_rels/slide54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Scepka1200" Type="http://schemas.openxmlformats.org/officeDocument/2006/relationships/image" Target="../media/scepka-fsp-light.png"/></Relationships>
</file>

<file path=ppt/slides/_rels/slide55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56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57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5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59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/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  <p:sp>
        <p:nvSpPr>
          <p:cNvPr id="1001" name="Текст 1001"/>
          <p:cNvSpPr txBox="1"/>
          <p:nvPr/>
        </p:nvSpPr>
        <p:spPr>
          <a:xfrm>
            <a:off x="594360" y="283464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6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Сцепка</a:t>
            </a:r>
            <a:endParaRPr lang="ru-RU" sz="6400"/>
          </a:p>
        </p:txBody>
      </p:sp>
      <p:sp>
        <p:nvSpPr>
          <p:cNvPr id="1002" name="Текст 1002"/>
          <p:cNvSpPr txBox="1"/>
          <p:nvPr/>
        </p:nvSpPr>
        <p:spPr>
          <a:xfrm>
            <a:off x="594360" y="3977639"/>
            <a:ext cx="589788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4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Работодатель находит подтверждённые навыки и первым предлагает работу</a:t>
            </a:r>
            <a:endParaRPr lang="ru-RU" sz="2400"/>
          </a:p>
        </p:txBody>
      </p:sp>
      <p:sp>
        <p:nvSpPr>
          <p:cNvPr id="1003" name="Текст 1003"/>
          <p:cNvSpPr txBox="1"/>
          <p:nvPr/>
        </p:nvSpPr>
        <p:spPr>
          <a:xfrm>
            <a:off x="594360" y="5623560"/>
            <a:ext cx="64008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3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Специальный трек ФСП · ЛЦТ 2026</a:t>
            </a:r>
            <a:endParaRPr lang="ru-RU" sz="1300"/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проекта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Продуктовые идеи, бэкенд и машинное обучение</a:t>
            </a:r>
            <a:endParaRPr lang="ru-RU" sz="1600"/>
          </a:p>
        </p:txBody>
      </p:sp>
      <p:sp>
        <p:nvSpPr>
          <p:cNvPr id="1100" name="Карточка 1100"/>
          <p:cNvSpPr/>
          <p:nvPr/>
        </p:nvSpPr>
        <p:spPr>
          <a:xfrm>
            <a:off x="548640" y="21488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0" name="Текст 1300"/>
          <p:cNvSpPr txBox="1"/>
          <p:nvPr/>
        </p:nvSpPr>
        <p:spPr>
          <a:xfrm>
            <a:off x="777240" y="23774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7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Лещенко Илья Федорович</a:t>
            </a:r>
            <a:endParaRPr lang="ru-RU" sz="1700"/>
          </a:p>
        </p:txBody>
      </p:sp>
      <p:sp>
        <p:nvSpPr>
          <p:cNvPr id="1400" name="Текст 1400"/>
          <p:cNvSpPr txBox="1"/>
          <p:nvPr/>
        </p:nvSpPr>
        <p:spPr>
          <a:xfrm>
            <a:off x="777240" y="30175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Генератор идей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Продуктовый подход и механика взаимодействия</a:t>
            </a:r>
            <a:endParaRPr lang="ru-RU" sz="1400"/>
          </a:p>
        </p:txBody>
      </p:sp>
      <p:sp>
        <p:nvSpPr>
          <p:cNvPr id="1101" name="Карточка 1101"/>
          <p:cNvSpPr/>
          <p:nvPr/>
        </p:nvSpPr>
        <p:spPr>
          <a:xfrm>
            <a:off x="6240779" y="21488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1" name="Текст 1301"/>
          <p:cNvSpPr txBox="1"/>
          <p:nvPr/>
        </p:nvSpPr>
        <p:spPr>
          <a:xfrm>
            <a:off x="6469379" y="23774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Бэкенд-разработчик</a:t>
            </a:r>
            <a:endParaRPr lang="ru-RU" sz="2000"/>
          </a:p>
        </p:txBody>
      </p:sp>
      <p:sp>
        <p:nvSpPr>
          <p:cNvPr id="1401" name="Текст 1401"/>
          <p:cNvSpPr txBox="1"/>
          <p:nvPr/>
        </p:nvSpPr>
        <p:spPr>
          <a:xfrm>
            <a:off x="6469379" y="30175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API, данные и интеграция сервисов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Имя и контакты добавит команда</a:t>
            </a:r>
            <a:endParaRPr lang="ru-RU" sz="1400"/>
          </a:p>
        </p:txBody>
      </p:sp>
      <p:sp>
        <p:nvSpPr>
          <p:cNvPr id="1102" name="Карточка 1102"/>
          <p:cNvSpPr/>
          <p:nvPr/>
        </p:nvSpPr>
        <p:spPr>
          <a:xfrm>
            <a:off x="548640" y="43205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2" name="Текст 1302"/>
          <p:cNvSpPr txBox="1"/>
          <p:nvPr/>
        </p:nvSpPr>
        <p:spPr>
          <a:xfrm>
            <a:off x="777240" y="45491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ML-специалист</a:t>
            </a:r>
            <a:endParaRPr lang="ru-RU" sz="2000"/>
          </a:p>
        </p:txBody>
      </p:sp>
      <p:sp>
        <p:nvSpPr>
          <p:cNvPr id="1402" name="Текст 1402"/>
          <p:cNvSpPr txBox="1"/>
          <p:nvPr/>
        </p:nvSpPr>
        <p:spPr>
          <a:xfrm>
            <a:off x="777240" y="51892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Механика оценки компетенций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Имя и контакты добавит команда</a:t>
            </a:r>
            <a:endParaRPr lang="ru-RU" sz="1400"/>
          </a:p>
        </p:txBody>
      </p:sp>
      <p:sp>
        <p:nvSpPr>
          <p:cNvPr id="1103" name="Карточка 1103"/>
          <p:cNvSpPr/>
          <p:nvPr/>
        </p:nvSpPr>
        <p:spPr>
          <a:xfrm>
            <a:off x="6240779" y="43205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3" name="Текст 1303"/>
          <p:cNvSpPr txBox="1"/>
          <p:nvPr/>
        </p:nvSpPr>
        <p:spPr>
          <a:xfrm>
            <a:off x="6469379" y="45491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ML-специалист</a:t>
            </a:r>
            <a:endParaRPr lang="ru-RU" sz="2000"/>
          </a:p>
        </p:txBody>
      </p:sp>
      <p:sp>
        <p:nvSpPr>
          <p:cNvPr id="1403" name="Текст 1403"/>
          <p:cNvSpPr txBox="1"/>
          <p:nvPr/>
        </p:nvSpPr>
        <p:spPr>
          <a:xfrm>
            <a:off x="6469379" y="51892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Семантический подбор кандидатов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Имя и контакты добавит команда</a:t>
            </a:r>
            <a:endParaRPr lang="ru-RU" sz="14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Коротко о решении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Подтверждённый профиль становится основанием для конкретного предложения</a:t>
            </a:r>
            <a:endParaRPr lang="ru-RU" sz="1600"/>
          </a:p>
        </p:txBody>
      </p:sp>
      <p:sp>
        <p:nvSpPr>
          <p:cNvPr id="1100" name="Карточка 1100"/>
          <p:cNvSpPr/>
          <p:nvPr/>
        </p:nvSpPr>
        <p:spPr>
          <a:xfrm>
            <a:off x="548640" y="2148840"/>
            <a:ext cx="541782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0" name="Текст 1300"/>
          <p:cNvSpPr txBox="1"/>
          <p:nvPr/>
        </p:nvSpPr>
        <p:spPr>
          <a:xfrm>
            <a:off x="777240" y="23774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Для кандидата</a:t>
            </a:r>
            <a:endParaRPr lang="ru-RU" sz="2000"/>
          </a:p>
        </p:txBody>
      </p:sp>
      <p:sp>
        <p:nvSpPr>
          <p:cNvPr id="1400" name="Текст 1400"/>
          <p:cNvSpPr txBox="1"/>
          <p:nvPr/>
        </p:nvSpPr>
        <p:spPr>
          <a:xfrm>
            <a:off x="777240" y="3017520"/>
            <a:ext cx="496062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Опрос и тест подтверждают заявленную категорию</a:t>
            </a:r>
            <a:endParaRPr lang="ru-RU" sz="18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Профиль сохраняет историю доказательств</a:t>
            </a:r>
            <a:endParaRPr lang="ru-RU" sz="18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Условия и зарплата видны до общения</a:t>
            </a:r>
            <a:endParaRPr lang="ru-RU" sz="18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Кандидат управляет раскрытием контактов</a:t>
            </a:r>
            <a:endParaRPr lang="ru-RU" sz="1800"/>
          </a:p>
        </p:txBody>
      </p:sp>
      <p:sp>
        <p:nvSpPr>
          <p:cNvPr id="1101" name="Карточка 1101"/>
          <p:cNvSpPr/>
          <p:nvPr/>
        </p:nvSpPr>
        <p:spPr>
          <a:xfrm>
            <a:off x="6240779" y="2148840"/>
            <a:ext cx="541782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1" name="Текст 1301"/>
          <p:cNvSpPr txBox="1"/>
          <p:nvPr/>
        </p:nvSpPr>
        <p:spPr>
          <a:xfrm>
            <a:off x="6469379" y="23774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Для работодателя</a:t>
            </a:r>
            <a:endParaRPr lang="ru-RU" sz="2000"/>
          </a:p>
        </p:txBody>
      </p:sp>
      <p:sp>
        <p:nvSpPr>
          <p:cNvPr id="1401" name="Текст 1401"/>
          <p:cNvSpPr txBox="1"/>
          <p:nvPr/>
        </p:nvSpPr>
        <p:spPr>
          <a:xfrm>
            <a:off x="6469379" y="3017520"/>
            <a:ext cx="496062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Потребность команды превращается в подборку</a:t>
            </a:r>
            <a:endParaRPr lang="ru-RU" sz="18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Категория опирается на проверенный грейд</a:t>
            </a:r>
            <a:endParaRPr lang="ru-RU" sz="18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Причины соответствия доступны в карточке</a:t>
            </a:r>
            <a:endParaRPr lang="ru-RU" sz="18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Приглашение открывает диалог на платформе</a:t>
            </a:r>
            <a:endParaRPr lang="ru-RU" sz="18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Сложности и принятые решения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Отделяем качество модели от надёжности продуктового сценария</a:t>
            </a:r>
            <a:endParaRPr lang="ru-RU" sz="1600"/>
          </a:p>
        </p:txBody>
      </p:sp>
      <p:sp>
        <p:nvSpPr>
          <p:cNvPr id="1100" name="Карточка 1100"/>
          <p:cNvSpPr/>
          <p:nvPr/>
        </p:nvSpPr>
        <p:spPr>
          <a:xfrm>
            <a:off x="548640" y="214884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0" name="Текст 1300"/>
          <p:cNvSpPr txBox="1"/>
          <p:nvPr/>
        </p:nvSpPr>
        <p:spPr>
          <a:xfrm>
            <a:off x="777240" y="2377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Ошибки генерации</a:t>
            </a:r>
            <a:endParaRPr lang="ru-RU" sz="2000"/>
          </a:p>
        </p:txBody>
      </p:sp>
      <p:sp>
        <p:nvSpPr>
          <p:cNvPr id="1400" name="Текст 1400"/>
          <p:cNvSpPr txBox="1"/>
          <p:nvPr/>
        </p:nvSpPr>
        <p:spPr>
          <a:xfrm>
            <a:off x="77724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LLM может потерять факт условия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Проверяльщик отклоняет такой набор до выдачи кандидату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Технический отказ не присваивает грейд и не расходует кулдаун</a:t>
            </a:r>
            <a:endParaRPr lang="ru-RU" sz="1600"/>
          </a:p>
        </p:txBody>
      </p:sp>
      <p:sp>
        <p:nvSpPr>
          <p:cNvPr id="1101" name="Карточка 1101"/>
          <p:cNvSpPr/>
          <p:nvPr/>
        </p:nvSpPr>
        <p:spPr>
          <a:xfrm>
            <a:off x="4343400" y="214884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1" name="Текст 1301"/>
          <p:cNvSpPr txBox="1"/>
          <p:nvPr/>
        </p:nvSpPr>
        <p:spPr>
          <a:xfrm>
            <a:off x="4572000" y="2377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Сопоставимость оценки</a:t>
            </a:r>
            <a:endParaRPr lang="ru-RU" sz="2000"/>
          </a:p>
        </p:txBody>
      </p:sp>
      <p:sp>
        <p:nvSpPr>
          <p:cNvPr id="1401" name="Текст 1401"/>
          <p:cNvSpPr txBox="1"/>
          <p:nvPr/>
        </p:nvSpPr>
        <p:spPr>
          <a:xfrm>
            <a:off x="457200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Банк задаёт требования, рубрики и тестовые кейсы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Модель меняет сюжет в пределах этих требований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Результат сохраняет источник доказательства</a:t>
            </a:r>
            <a:endParaRPr lang="ru-RU" sz="1600"/>
          </a:p>
        </p:txBody>
      </p:sp>
      <p:sp>
        <p:nvSpPr>
          <p:cNvPr id="1102" name="Карточка 1102"/>
          <p:cNvSpPr/>
          <p:nvPr/>
        </p:nvSpPr>
        <p:spPr>
          <a:xfrm>
            <a:off x="8138160" y="214884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2" name="Текст 1302"/>
          <p:cNvSpPr txBox="1"/>
          <p:nvPr/>
        </p:nvSpPr>
        <p:spPr>
          <a:xfrm>
            <a:off x="8366760" y="2377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7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Приватность и воспроизводимость</a:t>
            </a:r>
            <a:endParaRPr lang="ru-RU" sz="1700"/>
          </a:p>
        </p:txBody>
      </p:sp>
      <p:sp>
        <p:nvSpPr>
          <p:cNvPr id="1402" name="Текст 1402"/>
          <p:cNvSpPr txBox="1"/>
          <p:nvPr/>
        </p:nvSpPr>
        <p:spPr>
          <a:xfrm>
            <a:off x="836676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Одинаковые правила видимости действуют в карточках, PDF и картах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Синтетические профили не изображают настоящую верификацию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Проверки механики отделены от внешних LLM</a:t>
            </a:r>
            <a:endParaRPr lang="ru-RU" sz="16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4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Работодатель делает первый шаг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Основной сценарий подбора</a:t>
            </a:r>
            <a:endParaRPr lang="ru-RU" sz="1600"/>
          </a:p>
        </p:txBody>
      </p:sp>
      <p:pic>
        <p:nvPicPr>
          <p:cNvPr id="1200" name="employer-dashboard-light.png" descr="Скриншот прототипа на синтетических данных"/>
          <p:cNvPicPr>
            <a:picLocks noChangeAspect="1"/>
          </p:cNvPicPr>
          <p:nvPr/>
        </p:nvPicPr>
        <p:blipFill>
          <a:blip r:embed="rIdScepka1200"/>
          <a:stretch>
            <a:fillRect/>
          </a:stretch>
        </p:blipFill>
        <p:spPr>
          <a:xfrm>
            <a:off x="5795989" y="2148840"/>
            <a:ext cx="4638621" cy="4023360"/>
          </a:xfrm>
          <a:prstGeom prst="rect">
            <a:avLst/>
          </a:prstGeom>
        </p:spPr>
      </p:pic>
      <p:sp>
        <p:nvSpPr>
          <p:cNvPr id="1300" name="Текст 1300"/>
          <p:cNvSpPr txBox="1"/>
          <p:nvPr/>
        </p:nvSpPr>
        <p:spPr>
          <a:xfrm>
            <a:off x="594360" y="21945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Потребность</a:t>
            </a:r>
            <a:endParaRPr lang="ru-RU" sz="1800"/>
          </a:p>
        </p:txBody>
      </p:sp>
      <p:sp>
        <p:nvSpPr>
          <p:cNvPr id="1400" name="Текст 1400"/>
          <p:cNvSpPr txBox="1"/>
          <p:nvPr/>
        </p:nvSpPr>
        <p:spPr>
          <a:xfrm>
            <a:off x="594360" y="26974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Специализация, грейд, стек, бюджет и пожелания команды</a:t>
            </a:r>
            <a:endParaRPr lang="ru-RU" sz="1400"/>
          </a:p>
        </p:txBody>
      </p:sp>
      <p:sp>
        <p:nvSpPr>
          <p:cNvPr id="1301" name="Текст 1301"/>
          <p:cNvSpPr txBox="1"/>
          <p:nvPr/>
        </p:nvSpPr>
        <p:spPr>
          <a:xfrm>
            <a:off x="594360" y="32004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Подборка</a:t>
            </a:r>
            <a:endParaRPr lang="ru-RU" sz="1800"/>
          </a:p>
        </p:txBody>
      </p:sp>
      <p:sp>
        <p:nvSpPr>
          <p:cNvPr id="1401" name="Текст 1401"/>
          <p:cNvSpPr txBox="1"/>
          <p:nvPr/>
        </p:nvSpPr>
        <p:spPr>
          <a:xfrm>
            <a:off x="594360" y="37033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Фильтрация, семантический отбор и объяснимый порядок</a:t>
            </a:r>
            <a:endParaRPr lang="ru-RU" sz="1400"/>
          </a:p>
        </p:txBody>
      </p:sp>
      <p:sp>
        <p:nvSpPr>
          <p:cNvPr id="1302" name="Текст 1302"/>
          <p:cNvSpPr txBox="1"/>
          <p:nvPr/>
        </p:nvSpPr>
        <p:spPr>
          <a:xfrm>
            <a:off x="594360" y="42062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Предложение</a:t>
            </a:r>
            <a:endParaRPr lang="ru-RU" sz="1800"/>
          </a:p>
        </p:txBody>
      </p:sp>
      <p:sp>
        <p:nvSpPr>
          <p:cNvPr id="1402" name="Текст 1402"/>
          <p:cNvSpPr txBox="1"/>
          <p:nvPr/>
        </p:nvSpPr>
        <p:spPr>
          <a:xfrm>
            <a:off x="594360" y="47091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Описание работы и обязательная зарплатная вилка</a:t>
            </a:r>
            <a:endParaRPr lang="ru-RU" sz="1400"/>
          </a:p>
        </p:txBody>
      </p:sp>
      <p:sp>
        <p:nvSpPr>
          <p:cNvPr id="1303" name="Текст 1303"/>
          <p:cNvSpPr txBox="1"/>
          <p:nvPr/>
        </p:nvSpPr>
        <p:spPr>
          <a:xfrm>
            <a:off x="594360" y="52120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Диалог</a:t>
            </a:r>
            <a:endParaRPr lang="ru-RU" sz="1800"/>
          </a:p>
        </p:txBody>
      </p:sp>
      <p:sp>
        <p:nvSpPr>
          <p:cNvPr id="1403" name="Текст 1403"/>
          <p:cNvSpPr txBox="1"/>
          <p:nvPr/>
        </p:nvSpPr>
        <p:spPr>
          <a:xfrm>
            <a:off x="594360" y="57150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Кандидат может уточнить условия до принятия приглашения</a:t>
            </a:r>
            <a:endParaRPr lang="ru-RU" sz="14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5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Кандидат подтверждает профиль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Регистрация → профиль → опрос → тест → категория</a:t>
            </a:r>
            <a:endParaRPr lang="ru-RU" sz="1600"/>
          </a:p>
        </p:txBody>
      </p:sp>
      <p:pic>
        <p:nvPicPr>
          <p:cNvPr id="1200" name="assessment-light.png" descr="Скриншот прототипа на синтетических данных"/>
          <p:cNvPicPr>
            <a:picLocks noChangeAspect="1"/>
          </p:cNvPicPr>
          <p:nvPr/>
        </p:nvPicPr>
        <p:blipFill>
          <a:blip r:embed="rIdScepka1200"/>
          <a:stretch>
            <a:fillRect/>
          </a:stretch>
        </p:blipFill>
        <p:spPr>
          <a:xfrm>
            <a:off x="7023396" y="2148840"/>
            <a:ext cx="2183806" cy="4023360"/>
          </a:xfrm>
          <a:prstGeom prst="rect">
            <a:avLst/>
          </a:prstGeom>
        </p:spPr>
      </p:pic>
      <p:sp>
        <p:nvSpPr>
          <p:cNvPr id="1300" name="Текст 1300"/>
          <p:cNvSpPr txBox="1"/>
          <p:nvPr/>
        </p:nvSpPr>
        <p:spPr>
          <a:xfrm>
            <a:off x="594360" y="21945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Последовательный путь</a:t>
            </a:r>
            <a:endParaRPr lang="ru-RU" sz="1800"/>
          </a:p>
        </p:txBody>
      </p:sp>
      <p:sp>
        <p:nvSpPr>
          <p:cNvPr id="1400" name="Текст 1400"/>
          <p:cNvSpPr txBox="1"/>
          <p:nvPr/>
        </p:nvSpPr>
        <p:spPr>
          <a:xfrm>
            <a:off x="594360" y="2697480"/>
            <a:ext cx="3657600" cy="3383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Профиль заполняется вручную или из PDF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Кандидат выбирает предполагаемый грейд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Проверенный тест подтверждает заявленный уровень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При неуспехе категория не понижается принудительно</a:t>
            </a:r>
            <a:endParaRPr lang="ru-RU" sz="14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6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10999894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Тест: факты отдельно от сюжета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Модель составляет экземпляр задания, а банк сохраняет измеряемые требования</a:t>
            </a:r>
            <a:endParaRPr lang="ru-RU" sz="1600"/>
          </a:p>
        </p:txBody>
      </p:sp>
      <p:sp>
        <p:nvSpPr>
          <p:cNvPr id="1100" name="Карточка 1100"/>
          <p:cNvSpPr/>
          <p:nvPr/>
        </p:nvSpPr>
        <p:spPr>
          <a:xfrm>
            <a:off x="548640" y="214884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0" name="Текст 1300"/>
          <p:cNvSpPr txBox="1"/>
          <p:nvPr/>
        </p:nvSpPr>
        <p:spPr>
          <a:xfrm>
            <a:off x="777240" y="2377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Банк</a:t>
            </a:r>
            <a:endParaRPr lang="ru-RU" sz="2000"/>
          </a:p>
        </p:txBody>
      </p:sp>
      <p:sp>
        <p:nvSpPr>
          <p:cNvPr id="1400" name="Текст 1400"/>
          <p:cNvSpPr txBox="1"/>
          <p:nvPr/>
        </p:nvSpPr>
        <p:spPr>
          <a:xfrm>
            <a:off x="77724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Компетенции, уровни, факты условия и критерии оценки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Код, эссе и тестовые вопросы</a:t>
            </a:r>
            <a:endParaRPr lang="ru-RU" sz="1600"/>
          </a:p>
        </p:txBody>
      </p:sp>
      <p:sp>
        <p:nvSpPr>
          <p:cNvPr id="1101" name="Карточка 1101"/>
          <p:cNvSpPr/>
          <p:nvPr/>
        </p:nvSpPr>
        <p:spPr>
          <a:xfrm>
            <a:off x="4343400" y="214884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1" name="Текст 1301"/>
          <p:cNvSpPr txBox="1"/>
          <p:nvPr/>
        </p:nvSpPr>
        <p:spPr>
          <a:xfrm>
            <a:off x="4572000" y="2377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Экземпляр</a:t>
            </a:r>
            <a:endParaRPr lang="ru-RU" sz="2000"/>
          </a:p>
        </p:txBody>
      </p:sp>
      <p:sp>
        <p:nvSpPr>
          <p:cNvPr id="1401" name="Текст 1401"/>
          <p:cNvSpPr txBox="1"/>
          <p:nvPr/>
        </p:nvSpPr>
        <p:spPr>
          <a:xfrm>
            <a:off x="457200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Параметры и профессиональный контекст кандидата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Проверка фактов перед выдачей задания</a:t>
            </a:r>
            <a:endParaRPr lang="ru-RU" sz="1600"/>
          </a:p>
        </p:txBody>
      </p:sp>
      <p:sp>
        <p:nvSpPr>
          <p:cNvPr id="1102" name="Карточка 1102"/>
          <p:cNvSpPr/>
          <p:nvPr/>
        </p:nvSpPr>
        <p:spPr>
          <a:xfrm>
            <a:off x="8138160" y="214884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2" name="Текст 1302"/>
          <p:cNvSpPr txBox="1"/>
          <p:nvPr/>
        </p:nvSpPr>
        <p:spPr>
          <a:xfrm>
            <a:off x="8366760" y="2377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Оценка</a:t>
            </a:r>
            <a:endParaRPr lang="ru-RU" sz="2000"/>
          </a:p>
        </p:txBody>
      </p:sp>
      <p:sp>
        <p:nvSpPr>
          <p:cNvPr id="1402" name="Текст 1402"/>
          <p:cNvSpPr txBox="1"/>
          <p:nvPr/>
        </p:nvSpPr>
        <p:spPr>
          <a:xfrm>
            <a:off x="836676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Тестовые кейсы и рубрика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Проверяемые ссылки на участки ответа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История результата и достаточность доказательства</a:t>
            </a:r>
            <a:endParaRPr lang="ru-RU" sz="16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7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Оценка опирается на доказательства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LLM не присваивает грейд одним свободным вердиктом</a:t>
            </a:r>
            <a:endParaRPr lang="ru-RU" sz="1600"/>
          </a:p>
        </p:txBody>
      </p:sp>
      <p:sp>
        <p:nvSpPr>
          <p:cNvPr id="1100" name="Карточка 1100"/>
          <p:cNvSpPr/>
          <p:nvPr/>
        </p:nvSpPr>
        <p:spPr>
          <a:xfrm>
            <a:off x="548640" y="214884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0" name="Текст 1300"/>
          <p:cNvSpPr txBox="1"/>
          <p:nvPr/>
        </p:nvSpPr>
        <p:spPr>
          <a:xfrm>
            <a:off x="777240" y="2377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Код</a:t>
            </a:r>
            <a:endParaRPr lang="ru-RU" sz="2000"/>
          </a:p>
        </p:txBody>
      </p:sp>
      <p:sp>
        <p:nvSpPr>
          <p:cNvPr id="1400" name="Текст 1400"/>
          <p:cNvSpPr txBox="1"/>
          <p:nvPr/>
        </p:nvSpPr>
        <p:spPr>
          <a:xfrm>
            <a:off x="77724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Piston исполняет ответ в песочнице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Группы тестовых кейсов проверяют поведение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Рубрика дополняет результат исполнения</a:t>
            </a:r>
            <a:endParaRPr lang="ru-RU" sz="1600"/>
          </a:p>
        </p:txBody>
      </p:sp>
      <p:sp>
        <p:nvSpPr>
          <p:cNvPr id="1101" name="Карточка 1101"/>
          <p:cNvSpPr/>
          <p:nvPr/>
        </p:nvSpPr>
        <p:spPr>
          <a:xfrm>
            <a:off x="4343400" y="214884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1" name="Текст 1301"/>
          <p:cNvSpPr txBox="1"/>
          <p:nvPr/>
        </p:nvSpPr>
        <p:spPr>
          <a:xfrm>
            <a:off x="4572000" y="2377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Эссе и вопросы</a:t>
            </a:r>
            <a:endParaRPr lang="ru-RU" sz="2000"/>
          </a:p>
        </p:txBody>
      </p:sp>
      <p:sp>
        <p:nvSpPr>
          <p:cNvPr id="1401" name="Текст 1401"/>
          <p:cNvSpPr txBox="1"/>
          <p:nvPr/>
        </p:nvSpPr>
        <p:spPr>
          <a:xfrm>
            <a:off x="457200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Судья оценивает отдельные пункты рубрики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Код сверяет ссылки и структуру ответа модели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Противоречивый или недостаточный результат не подтверждает уровень</a:t>
            </a:r>
            <a:endParaRPr lang="ru-RU" sz="1600"/>
          </a:p>
        </p:txBody>
      </p:sp>
      <p:sp>
        <p:nvSpPr>
          <p:cNvPr id="1102" name="Карточка 1102"/>
          <p:cNvSpPr/>
          <p:nvPr/>
        </p:nvSpPr>
        <p:spPr>
          <a:xfrm>
            <a:off x="8138160" y="214884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2" name="Текст 1302"/>
          <p:cNvSpPr txBox="1"/>
          <p:nvPr/>
        </p:nvSpPr>
        <p:spPr>
          <a:xfrm>
            <a:off x="8366760" y="2377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7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Повторное тестирование</a:t>
            </a:r>
            <a:endParaRPr lang="ru-RU" sz="1700"/>
          </a:p>
        </p:txBody>
      </p:sp>
      <p:sp>
        <p:nvSpPr>
          <p:cNvPr id="1402" name="Текст 1402"/>
          <p:cNvSpPr txBox="1"/>
          <p:nvPr/>
        </p:nvSpPr>
        <p:spPr>
          <a:xfrm>
            <a:off x="836676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Успех ограничивает частоту смены грейда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После провала кандидат может выбрать другой уровень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Сбой генерации остаётся техническим исходом</a:t>
            </a:r>
            <a:endParaRPr lang="ru-RU" sz="16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Устойчивость проверяется, а не обещается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Параметризация полезна, только когда она меняет правильный ответ</a:t>
            </a:r>
            <a:endParaRPr lang="ru-RU" sz="1600"/>
          </a:p>
        </p:txBody>
      </p:sp>
      <p:sp>
        <p:nvSpPr>
          <p:cNvPr id="1100" name="Карточка 1100"/>
          <p:cNvSpPr/>
          <p:nvPr/>
        </p:nvSpPr>
        <p:spPr>
          <a:xfrm>
            <a:off x="548640" y="2148840"/>
            <a:ext cx="541782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0" name="Текст 1300"/>
          <p:cNvSpPr txBox="1"/>
          <p:nvPr/>
        </p:nvSpPr>
        <p:spPr>
          <a:xfrm>
            <a:off x="777240" y="23774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Что сделано</a:t>
            </a:r>
            <a:endParaRPr lang="ru-RU" sz="2000"/>
          </a:p>
        </p:txBody>
      </p:sp>
      <p:sp>
        <p:nvSpPr>
          <p:cNvPr id="1400" name="Текст 1400"/>
          <p:cNvSpPr txBox="1"/>
          <p:nvPr/>
        </p:nvSpPr>
        <p:spPr>
          <a:xfrm>
            <a:off x="777240" y="3017520"/>
            <a:ext cx="496062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Шаблоны сохраняют требования и сложность</a:t>
            </a:r>
            <a:endParaRPr lang="ru-RU" sz="18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Проверка отсеивает обрыв, утечку и потерянные факты</a:t>
            </a:r>
            <a:endParaRPr lang="ru-RU" sz="18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Атакующие ответы входят в собственные наборы валидации</a:t>
            </a:r>
            <a:endParaRPr lang="ru-RU" sz="1800"/>
          </a:p>
        </p:txBody>
      </p:sp>
      <p:sp>
        <p:nvSpPr>
          <p:cNvPr id="1101" name="Карточка 1101"/>
          <p:cNvSpPr/>
          <p:nvPr/>
        </p:nvSpPr>
        <p:spPr>
          <a:xfrm>
            <a:off x="6240779" y="2148840"/>
            <a:ext cx="541782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1" name="Текст 1301"/>
          <p:cNvSpPr txBox="1"/>
          <p:nvPr/>
        </p:nvSpPr>
        <p:spPr>
          <a:xfrm>
            <a:off x="6469379" y="23774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Что показали замеры</a:t>
            </a:r>
            <a:endParaRPr lang="ru-RU" sz="2000"/>
          </a:p>
        </p:txBody>
      </p:sp>
      <p:sp>
        <p:nvSpPr>
          <p:cNvPr id="1401" name="Текст 1401"/>
          <p:cNvSpPr txBox="1"/>
          <p:nvPr/>
        </p:nvSpPr>
        <p:spPr>
          <a:xfrm>
            <a:off x="6469379" y="3017520"/>
            <a:ext cx="496062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Готовое общее решение может пройти разные экземпляры одного шаблона</a:t>
            </a:r>
            <a:endParaRPr lang="ru-RU" sz="18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Смена сюжета сама по себе не защищает от копирования</a:t>
            </a:r>
            <a:endParaRPr lang="ru-RU" sz="18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Следующий шаг — больше параметров, которые меняют решение</a:t>
            </a:r>
            <a:endParaRPr lang="ru-RU" sz="18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9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Что показали замеры тестирования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Собственные наборы, фиксированные режимы и сохранённые результаты</a:t>
            </a:r>
            <a:endParaRPr lang="ru-RU" sz="1600"/>
          </a:p>
        </p:txBody>
      </p:sp>
      <p:sp>
        <p:nvSpPr>
          <p:cNvPr id="1100" name="Карточка 1100"/>
          <p:cNvSpPr/>
          <p:nvPr/>
        </p:nvSpPr>
        <p:spPr>
          <a:xfrm>
            <a:off x="548640" y="21488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0" name="Текст 1300"/>
          <p:cNvSpPr txBox="1"/>
          <p:nvPr/>
        </p:nvSpPr>
        <p:spPr>
          <a:xfrm>
            <a:off x="777240" y="23774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36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10 / 10</a:t>
            </a:r>
            <a:endParaRPr lang="ru-RU" sz="3600"/>
          </a:p>
        </p:txBody>
      </p:sp>
      <p:sp>
        <p:nvSpPr>
          <p:cNvPr id="1400" name="Текст 1400"/>
          <p:cNvSpPr txBox="1"/>
          <p:nvPr/>
        </p:nvSpPr>
        <p:spPr>
          <a:xfrm>
            <a:off x="777240" y="30175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Шаблонов собрал DeepSeek Flash в сравнительном прогоне генерации</a:t>
            </a:r>
            <a:endParaRPr lang="ru-RU" sz="1400"/>
          </a:p>
        </p:txBody>
      </p:sp>
      <p:sp>
        <p:nvSpPr>
          <p:cNvPr id="1101" name="Карточка 1101"/>
          <p:cNvSpPr/>
          <p:nvPr/>
        </p:nvSpPr>
        <p:spPr>
          <a:xfrm>
            <a:off x="6240779" y="21488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1" name="Текст 1301"/>
          <p:cNvSpPr txBox="1"/>
          <p:nvPr/>
        </p:nvSpPr>
        <p:spPr>
          <a:xfrm>
            <a:off x="6469379" y="23774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36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122 / 126</a:t>
            </a:r>
            <a:endParaRPr lang="ru-RU" sz="3600"/>
          </a:p>
        </p:txBody>
      </p:sp>
      <p:sp>
        <p:nvSpPr>
          <p:cNvPr id="1401" name="Текст 1401"/>
          <p:cNvSpPr txBox="1"/>
          <p:nvPr/>
        </p:nvSpPr>
        <p:spPr>
          <a:xfrm>
            <a:off x="6469379" y="30175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Вариантов задачек решил DeepSeek Flash по исходным фактам</a:t>
            </a:r>
            <a:endParaRPr lang="ru-RU" sz="1400"/>
          </a:p>
        </p:txBody>
      </p:sp>
      <p:sp>
        <p:nvSpPr>
          <p:cNvPr id="1102" name="Карточка 1102"/>
          <p:cNvSpPr/>
          <p:nvPr/>
        </p:nvSpPr>
        <p:spPr>
          <a:xfrm>
            <a:off x="548640" y="43205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2" name="Текст 1302"/>
          <p:cNvSpPr txBox="1"/>
          <p:nvPr/>
        </p:nvSpPr>
        <p:spPr>
          <a:xfrm>
            <a:off x="777240" y="45491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Проверка шума</a:t>
            </a:r>
            <a:endParaRPr lang="ru-RU" sz="2000"/>
          </a:p>
        </p:txBody>
      </p:sp>
      <p:sp>
        <p:nvSpPr>
          <p:cNvPr id="1402" name="Текст 1402"/>
          <p:cNvSpPr txBox="1"/>
          <p:nvPr/>
        </p:nvSpPr>
        <p:spPr>
          <a:xfrm>
            <a:off x="777240" y="51892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Образцовые ответы на эссе оценивали повторно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Ссылки на участки сняли обнаруженный разброс цитирования</a:t>
            </a:r>
            <a:endParaRPr lang="ru-RU" sz="1400"/>
          </a:p>
        </p:txBody>
      </p:sp>
      <p:sp>
        <p:nvSpPr>
          <p:cNvPr id="1103" name="Карточка 1103"/>
          <p:cNvSpPr/>
          <p:nvPr/>
        </p:nvSpPr>
        <p:spPr>
          <a:xfrm>
            <a:off x="6240779" y="43205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3" name="Текст 1303"/>
          <p:cNvSpPr txBox="1"/>
          <p:nvPr/>
        </p:nvSpPr>
        <p:spPr>
          <a:xfrm>
            <a:off x="6469379" y="45491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Граница вывода</a:t>
            </a:r>
            <a:endParaRPr lang="ru-RU" sz="2000"/>
          </a:p>
        </p:txBody>
      </p:sp>
      <p:sp>
        <p:nvSpPr>
          <p:cNvPr id="1403" name="Текст 1403"/>
          <p:cNvSpPr txBox="1"/>
          <p:nvPr/>
        </p:nvSpPr>
        <p:spPr>
          <a:xfrm>
            <a:off x="6469379" y="51892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Малая синтетическая выборка не заменяет экспертный пилот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Ошибки модели сохраняются в отчёте</a:t>
            </a:r>
            <a:endParaRPr lang="ru-RU" sz="14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Как формируется подборка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Категория и обязательные условия предшествуют семантическому поиску</a:t>
            </a:r>
            <a:endParaRPr lang="ru-RU" sz="1600"/>
          </a:p>
        </p:txBody>
      </p:sp>
      <p:sp>
        <p:nvSpPr>
          <p:cNvPr id="1100" name="Карточка 1100"/>
          <p:cNvSpPr/>
          <p:nvPr/>
        </p:nvSpPr>
        <p:spPr>
          <a:xfrm>
            <a:off x="548640" y="21488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0" name="Текст 1300"/>
          <p:cNvSpPr txBox="1"/>
          <p:nvPr/>
        </p:nvSpPr>
        <p:spPr>
          <a:xfrm>
            <a:off x="777240" y="23774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Фильтр</a:t>
            </a:r>
            <a:endParaRPr lang="ru-RU" sz="2000"/>
          </a:p>
        </p:txBody>
      </p:sp>
      <p:sp>
        <p:nvSpPr>
          <p:cNvPr id="1400" name="Текст 1400"/>
          <p:cNvSpPr txBox="1"/>
          <p:nvPr/>
        </p:nvSpPr>
        <p:spPr>
          <a:xfrm>
            <a:off x="777240" y="30175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Приватность, специализация, грейд, бюджет и формат</a:t>
            </a:r>
            <a:endParaRPr lang="ru-RU" sz="1400"/>
          </a:p>
        </p:txBody>
      </p:sp>
      <p:sp>
        <p:nvSpPr>
          <p:cNvPr id="1101" name="Карточка 1101"/>
          <p:cNvSpPr/>
          <p:nvPr/>
        </p:nvSpPr>
        <p:spPr>
          <a:xfrm>
            <a:off x="6240779" y="21488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1" name="Текст 1301"/>
          <p:cNvSpPr txBox="1"/>
          <p:nvPr/>
        </p:nvSpPr>
        <p:spPr>
          <a:xfrm>
            <a:off x="6469379" y="23774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Векторы</a:t>
            </a:r>
            <a:endParaRPr lang="ru-RU" sz="2000"/>
          </a:p>
        </p:txBody>
      </p:sp>
      <p:sp>
        <p:nvSpPr>
          <p:cNvPr id="1401" name="Текст 1401"/>
          <p:cNvSpPr txBox="1"/>
          <p:nvPr/>
        </p:nvSpPr>
        <p:spPr>
          <a:xfrm>
            <a:off x="6469379" y="30175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bge-m3 отбирает близкие профили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Свежие и случайные кандидаты получают шанс попасть в рассмотрение</a:t>
            </a:r>
            <a:endParaRPr lang="ru-RU" sz="1400"/>
          </a:p>
        </p:txBody>
      </p:sp>
      <p:sp>
        <p:nvSpPr>
          <p:cNvPr id="1102" name="Карточка 1102"/>
          <p:cNvSpPr/>
          <p:nvPr/>
        </p:nvSpPr>
        <p:spPr>
          <a:xfrm>
            <a:off x="548640" y="43205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2" name="Текст 1302"/>
          <p:cNvSpPr txBox="1"/>
          <p:nvPr/>
        </p:nvSpPr>
        <p:spPr>
          <a:xfrm>
            <a:off x="777240" y="45491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Ранжирование</a:t>
            </a:r>
            <a:endParaRPr lang="ru-RU" sz="2000"/>
          </a:p>
        </p:txBody>
      </p:sp>
      <p:sp>
        <p:nvSpPr>
          <p:cNvPr id="1402" name="Текст 1402"/>
          <p:cNvSpPr txBox="1"/>
          <p:nvPr/>
        </p:nvSpPr>
        <p:spPr>
          <a:xfrm>
            <a:off x="777240" y="51892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Подтверждённый грейд имеет приоритет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LLM уточняет соответствие потребности и пожеланиям</a:t>
            </a:r>
            <a:endParaRPr lang="ru-RU" sz="1400"/>
          </a:p>
        </p:txBody>
      </p:sp>
      <p:sp>
        <p:nvSpPr>
          <p:cNvPr id="1103" name="Карточка 1103"/>
          <p:cNvSpPr/>
          <p:nvPr/>
        </p:nvSpPr>
        <p:spPr>
          <a:xfrm>
            <a:off x="6240779" y="43205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3" name="Текст 1303"/>
          <p:cNvSpPr txBox="1"/>
          <p:nvPr/>
        </p:nvSpPr>
        <p:spPr>
          <a:xfrm>
            <a:off x="6469379" y="45491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Объяснение</a:t>
            </a:r>
            <a:endParaRPr lang="ru-RU" sz="2000"/>
          </a:p>
        </p:txBody>
      </p:sp>
      <p:sp>
        <p:nvSpPr>
          <p:cNvPr id="1403" name="Текст 1403"/>
          <p:cNvSpPr txBox="1"/>
          <p:nvPr/>
        </p:nvSpPr>
        <p:spPr>
          <a:xfrm>
            <a:off x="6469379" y="51892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Причины связаны с фактами профиля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При отказе проверки используется объяснение из факторов</a:t>
            </a:r>
            <a:endParaRPr lang="ru-RU" sz="14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11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Качество подбора: измеренный результат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DeepSeek Flash, HyDE, K = 3; синтетический набор с разметкой по построению</a:t>
            </a:r>
            <a:endParaRPr lang="ru-RU" sz="1600"/>
          </a:p>
        </p:txBody>
      </p:sp>
      <p:sp>
        <p:nvSpPr>
          <p:cNvPr id="1100" name="Карточка 1100"/>
          <p:cNvSpPr/>
          <p:nvPr/>
        </p:nvSpPr>
        <p:spPr>
          <a:xfrm>
            <a:off x="548640" y="21488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0" name="Текст 1300"/>
          <p:cNvSpPr txBox="1"/>
          <p:nvPr/>
        </p:nvSpPr>
        <p:spPr>
          <a:xfrm>
            <a:off x="777240" y="23774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36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0.962</a:t>
            </a:r>
            <a:endParaRPr lang="ru-RU" sz="3600"/>
          </a:p>
        </p:txBody>
      </p:sp>
      <p:sp>
        <p:nvSpPr>
          <p:cNvPr id="1400" name="Текст 1400"/>
          <p:cNvSpPr txBox="1"/>
          <p:nvPr/>
        </p:nvSpPr>
        <p:spPr>
          <a:xfrm>
            <a:off x="777240" y="30175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nDCG@10 итогового порядка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Потолок при принятом правиле подтверждённости — 0.966</a:t>
            </a:r>
            <a:endParaRPr lang="ru-RU" sz="1400"/>
          </a:p>
        </p:txBody>
      </p:sp>
      <p:sp>
        <p:nvSpPr>
          <p:cNvPr id="1101" name="Карточка 1101"/>
          <p:cNvSpPr/>
          <p:nvPr/>
        </p:nvSpPr>
        <p:spPr>
          <a:xfrm>
            <a:off x="6240779" y="21488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1" name="Текст 1301"/>
          <p:cNvSpPr txBox="1"/>
          <p:nvPr/>
        </p:nvSpPr>
        <p:spPr>
          <a:xfrm>
            <a:off x="6469379" y="23774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36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0.78</a:t>
            </a:r>
            <a:endParaRPr lang="ru-RU" sz="3600"/>
          </a:p>
        </p:txBody>
      </p:sp>
      <p:sp>
        <p:nvSpPr>
          <p:cNvPr id="1401" name="Текст 1401"/>
          <p:cNvSpPr txBox="1"/>
          <p:nvPr/>
        </p:nvSpPr>
        <p:spPr>
          <a:xfrm>
            <a:off x="6469379" y="30175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Recall@3 векторной стадии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 доля успешных наймов</a:t>
            </a:r>
            <a:endParaRPr lang="ru-RU" sz="1400"/>
          </a:p>
        </p:txBody>
      </p:sp>
      <p:sp>
        <p:nvSpPr>
          <p:cNvPr id="1102" name="Карточка 1102"/>
          <p:cNvSpPr/>
          <p:nvPr/>
        </p:nvSpPr>
        <p:spPr>
          <a:xfrm>
            <a:off x="548640" y="43205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2" name="Текст 1302"/>
          <p:cNvSpPr txBox="1"/>
          <p:nvPr/>
        </p:nvSpPr>
        <p:spPr>
          <a:xfrm>
            <a:off x="777240" y="45491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36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42 / 42</a:t>
            </a:r>
            <a:endParaRPr lang="ru-RU" sz="3600"/>
          </a:p>
        </p:txBody>
      </p:sp>
      <p:sp>
        <p:nvSpPr>
          <p:cNvPr id="1402" name="Текст 1402"/>
          <p:cNvSpPr txBox="1"/>
          <p:nvPr/>
        </p:nvSpPr>
        <p:spPr>
          <a:xfrm>
            <a:off x="777240" y="51892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Объяснений прошли проверку фактов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Обзоры: 6 / 6</a:t>
            </a:r>
            <a:endParaRPr lang="ru-RU" sz="1400"/>
          </a:p>
        </p:txBody>
      </p:sp>
      <p:sp>
        <p:nvSpPr>
          <p:cNvPr id="1103" name="Карточка 1103"/>
          <p:cNvSpPr/>
          <p:nvPr/>
        </p:nvSpPr>
        <p:spPr>
          <a:xfrm>
            <a:off x="6240779" y="43205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3" name="Текст 1303"/>
          <p:cNvSpPr txBox="1"/>
          <p:nvPr/>
        </p:nvSpPr>
        <p:spPr>
          <a:xfrm>
            <a:off x="6469379" y="45491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Ограничение набора</a:t>
            </a:r>
            <a:endParaRPr lang="ru-RU" sz="2000"/>
          </a:p>
        </p:txBody>
      </p:sp>
      <p:sp>
        <p:nvSpPr>
          <p:cNvPr id="1403" name="Текст 1403"/>
          <p:cNvSpPr txBox="1"/>
          <p:nvPr/>
        </p:nvSpPr>
        <p:spPr>
          <a:xfrm>
            <a:off x="6469379" y="51892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Малые синтетические пулы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Ранжировщик получает весь пул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Нужен пилот на больших пулах</a:t>
            </a:r>
            <a:endParaRPr lang="ru-RU" sz="14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12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Карта помогает исследовать подборку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Облако показывает структуру; радиальная карта — близость к потребности</a:t>
            </a:r>
            <a:endParaRPr lang="ru-RU" sz="1600"/>
          </a:p>
        </p:txBody>
      </p:sp>
      <p:pic>
        <p:nvPicPr>
          <p:cNvPr id="1200" name="search-cloud-light.png" descr="Скриншот прототипа на синтетических данных"/>
          <p:cNvPicPr>
            <a:picLocks noChangeAspect="1"/>
          </p:cNvPicPr>
          <p:nvPr/>
        </p:nvPicPr>
        <p:blipFill>
          <a:blip r:embed="rIdScepka1200"/>
          <a:stretch>
            <a:fillRect/>
          </a:stretch>
        </p:blipFill>
        <p:spPr>
          <a:xfrm>
            <a:off x="1083564" y="2148840"/>
            <a:ext cx="4279392" cy="2971800"/>
          </a:xfrm>
          <a:prstGeom prst="rect">
            <a:avLst/>
          </a:prstGeom>
        </p:spPr>
      </p:pic>
      <p:pic>
        <p:nvPicPr>
          <p:cNvPr id="1201" name="search-radial-dark.png" descr="Скриншот прототипа на синтетических данных"/>
          <p:cNvPicPr>
            <a:picLocks noChangeAspect="1"/>
          </p:cNvPicPr>
          <p:nvPr/>
        </p:nvPicPr>
        <p:blipFill>
          <a:blip r:embed="rIdScepka1201"/>
          <a:stretch>
            <a:fillRect/>
          </a:stretch>
        </p:blipFill>
        <p:spPr>
          <a:xfrm>
            <a:off x="6844283" y="2148840"/>
            <a:ext cx="4279392" cy="2971800"/>
          </a:xfrm>
          <a:prstGeom prst="rect">
            <a:avLst/>
          </a:prstGeom>
        </p:spPr>
      </p:pic>
      <p:sp>
        <p:nvSpPr>
          <p:cNvPr id="1300" name="Текст 1300"/>
          <p:cNvSpPr txBox="1"/>
          <p:nvPr/>
        </p:nvSpPr>
        <p:spPr>
          <a:xfrm>
            <a:off x="594360" y="525780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9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Семантическое облако</a:t>
            </a:r>
            <a:endParaRPr lang="ru-RU" sz="1900"/>
          </a:p>
        </p:txBody>
      </p:sp>
      <p:sp>
        <p:nvSpPr>
          <p:cNvPr id="1400" name="Текст 1400"/>
          <p:cNvSpPr txBox="1"/>
          <p:nvPr/>
        </p:nvSpPr>
        <p:spPr>
          <a:xfrm>
            <a:off x="594360" y="5669280"/>
            <a:ext cx="53035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3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PCA и кластеризация исходных векторов</a:t>
            </a:r>
            <a:endParaRPr lang="ru-RU" sz="13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3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Проекция приблизительна, шум допустим</a:t>
            </a:r>
            <a:endParaRPr lang="ru-RU" sz="1300"/>
          </a:p>
        </p:txBody>
      </p:sp>
      <p:sp>
        <p:nvSpPr>
          <p:cNvPr id="1301" name="Текст 1301"/>
          <p:cNvSpPr txBox="1"/>
          <p:nvPr/>
        </p:nvSpPr>
        <p:spPr>
          <a:xfrm>
            <a:off x="6355080" y="525780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9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Радиальная карта</a:t>
            </a:r>
            <a:endParaRPr lang="ru-RU" sz="1900"/>
          </a:p>
        </p:txBody>
      </p:sp>
      <p:sp>
        <p:nvSpPr>
          <p:cNvPr id="1401" name="Текст 1401"/>
          <p:cNvSpPr txBox="1"/>
          <p:nvPr/>
        </p:nvSpPr>
        <p:spPr>
          <a:xfrm>
            <a:off x="6355080" y="5669280"/>
            <a:ext cx="53035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3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Радиус равен (1 − cosine) / 2</a:t>
            </a:r>
            <a:endParaRPr lang="ru-RU" sz="13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3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Шкала общая для кандидатов</a:t>
            </a:r>
            <a:endParaRPr lang="ru-RU" sz="13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3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Это близость, а не вероятность найма</a:t>
            </a:r>
            <a:endParaRPr lang="ru-RU" sz="13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13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Приватность — часть механики найма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Кандидат контролирует доступ к данным</a:t>
            </a:r>
            <a:endParaRPr lang="ru-RU" sz="1600"/>
          </a:p>
        </p:txBody>
      </p:sp>
      <p:sp>
        <p:nvSpPr>
          <p:cNvPr id="1100" name="Карточка 1100"/>
          <p:cNvSpPr/>
          <p:nvPr/>
        </p:nvSpPr>
        <p:spPr>
          <a:xfrm>
            <a:off x="548640" y="214884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0" name="Текст 1300"/>
          <p:cNvSpPr txBox="1"/>
          <p:nvPr/>
        </p:nvSpPr>
        <p:spPr>
          <a:xfrm>
            <a:off x="777240" y="2377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До предложения</a:t>
            </a:r>
            <a:endParaRPr lang="ru-RU" sz="2000"/>
          </a:p>
        </p:txBody>
      </p:sp>
      <p:sp>
        <p:nvSpPr>
          <p:cNvPr id="1400" name="Текст 1400"/>
          <p:cNvSpPr txBox="1"/>
          <p:nvPr/>
        </p:nvSpPr>
        <p:spPr>
          <a:xfrm>
            <a:off x="77724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Работодатель видит только разрешённые поля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Сырые эмбеддинги и закрытые пожелания не уходят в браузер</a:t>
            </a:r>
            <a:endParaRPr lang="ru-RU" sz="1600"/>
          </a:p>
        </p:txBody>
      </p:sp>
      <p:sp>
        <p:nvSpPr>
          <p:cNvPr id="1101" name="Карточка 1101"/>
          <p:cNvSpPr/>
          <p:nvPr/>
        </p:nvSpPr>
        <p:spPr>
          <a:xfrm>
            <a:off x="4343400" y="214884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1" name="Текст 1301"/>
          <p:cNvSpPr txBox="1"/>
          <p:nvPr/>
        </p:nvSpPr>
        <p:spPr>
          <a:xfrm>
            <a:off x="4572000" y="2377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Во время диалога</a:t>
            </a:r>
            <a:endParaRPr lang="ru-RU" sz="2000"/>
          </a:p>
        </p:txBody>
      </p:sp>
      <p:sp>
        <p:nvSpPr>
          <p:cNvPr id="1401" name="Текст 1401"/>
          <p:cNvSpPr txBox="1"/>
          <p:nvPr/>
        </p:nvSpPr>
        <p:spPr>
          <a:xfrm>
            <a:off x="457200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Ответ в чате не означает принятия предложения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Контакты раскрываются по отдельному основанию и настройкам кандидата</a:t>
            </a:r>
            <a:endParaRPr lang="ru-RU" sz="1600"/>
          </a:p>
        </p:txBody>
      </p:sp>
      <p:sp>
        <p:nvSpPr>
          <p:cNvPr id="1102" name="Карточка 1102"/>
          <p:cNvSpPr/>
          <p:nvPr/>
        </p:nvSpPr>
        <p:spPr>
          <a:xfrm>
            <a:off x="8138160" y="214884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2" name="Текст 1302"/>
          <p:cNvSpPr txBox="1"/>
          <p:nvPr/>
        </p:nvSpPr>
        <p:spPr>
          <a:xfrm>
            <a:off x="8366760" y="2377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При отзыве согласия</a:t>
            </a:r>
            <a:endParaRPr lang="ru-RU" sz="2000"/>
          </a:p>
        </p:txBody>
      </p:sp>
      <p:sp>
        <p:nvSpPr>
          <p:cNvPr id="1402" name="Текст 1402"/>
          <p:cNvSpPr txBox="1"/>
          <p:nvPr/>
        </p:nvSpPr>
        <p:spPr>
          <a:xfrm>
            <a:off x="836676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Очистка векторов и снимков карт сохраняет состояние операции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Карточки, история и PDF применяют общие правила видимости</a:t>
            </a:r>
            <a:endParaRPr lang="ru-RU" sz="16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14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Условия до начала общения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Приглашение включает компанию, описание предложения и зарплату в рублях</a:t>
            </a:r>
            <a:endParaRPr lang="ru-RU" sz="1600"/>
          </a:p>
        </p:txBody>
      </p:sp>
      <p:pic>
        <p:nvPicPr>
          <p:cNvPr id="1200" name="conversation-light.png" descr="Скриншот прототипа на синтетических данных"/>
          <p:cNvPicPr>
            <a:picLocks noChangeAspect="1"/>
          </p:cNvPicPr>
          <p:nvPr/>
        </p:nvPicPr>
        <p:blipFill>
          <a:blip r:embed="rIdScepka1200"/>
          <a:stretch>
            <a:fillRect/>
          </a:stretch>
        </p:blipFill>
        <p:spPr>
          <a:xfrm>
            <a:off x="5218480" y="2148840"/>
            <a:ext cx="5793638" cy="4023360"/>
          </a:xfrm>
          <a:prstGeom prst="rect">
            <a:avLst/>
          </a:prstGeom>
        </p:spPr>
      </p:pic>
      <p:sp>
        <p:nvSpPr>
          <p:cNvPr id="1300" name="Текст 1300"/>
          <p:cNvSpPr txBox="1"/>
          <p:nvPr/>
        </p:nvSpPr>
        <p:spPr>
          <a:xfrm>
            <a:off x="594360" y="21945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Переписка на платформе</a:t>
            </a:r>
            <a:endParaRPr lang="ru-RU" sz="1800"/>
          </a:p>
        </p:txBody>
      </p:sp>
      <p:sp>
        <p:nvSpPr>
          <p:cNvPr id="1400" name="Текст 1400"/>
          <p:cNvSpPr txBox="1"/>
          <p:nvPr/>
        </p:nvSpPr>
        <p:spPr>
          <a:xfrm>
            <a:off x="594360" y="2697480"/>
            <a:ext cx="3657600" cy="3383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Диалог доступен сразу после приглашения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Обе стороны видят статусы и историю сообщений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Кандидат может принять, отклонить или сначала задать вопрос</a:t>
            </a:r>
            <a:endParaRPr lang="ru-RU" sz="14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15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10999894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Дополнительные пути уже реализованы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Публикация вакансий, самостоятельные отклики и короткие задания</a:t>
            </a:r>
            <a:endParaRPr lang="ru-RU" sz="1600"/>
          </a:p>
        </p:txBody>
      </p:sp>
      <p:pic>
        <p:nvPicPr>
          <p:cNvPr id="1200" name="applications-light.png" descr="Скриншот прототипа на синтетических данных"/>
          <p:cNvPicPr>
            <a:picLocks noChangeAspect="1"/>
          </p:cNvPicPr>
          <p:nvPr/>
        </p:nvPicPr>
        <p:blipFill>
          <a:blip r:embed="rIdScepka1200"/>
          <a:stretch>
            <a:fillRect/>
          </a:stretch>
        </p:blipFill>
        <p:spPr>
          <a:xfrm>
            <a:off x="1083564" y="2148840"/>
            <a:ext cx="4279392" cy="2971800"/>
          </a:xfrm>
          <a:prstGeom prst="rect">
            <a:avLst/>
          </a:prstGeom>
        </p:spPr>
      </p:pic>
      <p:pic>
        <p:nvPicPr>
          <p:cNvPr id="1201" name="assignment-answer-light.png" descr="Скриншот прототипа на синтетических данных"/>
          <p:cNvPicPr>
            <a:picLocks noChangeAspect="1"/>
          </p:cNvPicPr>
          <p:nvPr/>
        </p:nvPicPr>
        <p:blipFill>
          <a:blip r:embed="rIdScepka1201"/>
          <a:stretch>
            <a:fillRect/>
          </a:stretch>
        </p:blipFill>
        <p:spPr>
          <a:xfrm>
            <a:off x="6844283" y="2148840"/>
            <a:ext cx="4279392" cy="2971800"/>
          </a:xfrm>
          <a:prstGeom prst="rect">
            <a:avLst/>
          </a:prstGeom>
        </p:spPr>
      </p:pic>
      <p:sp>
        <p:nvSpPr>
          <p:cNvPr id="1300" name="Текст 1300"/>
          <p:cNvSpPr txBox="1"/>
          <p:nvPr/>
        </p:nvSpPr>
        <p:spPr>
          <a:xfrm>
            <a:off x="594360" y="525780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9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Классический найм</a:t>
            </a:r>
            <a:endParaRPr lang="ru-RU" sz="1900"/>
          </a:p>
        </p:txBody>
      </p:sp>
      <p:sp>
        <p:nvSpPr>
          <p:cNvPr id="1400" name="Текст 1400"/>
          <p:cNvSpPr txBox="1"/>
          <p:nvPr/>
        </p:nvSpPr>
        <p:spPr>
          <a:xfrm>
            <a:off x="594360" y="5669280"/>
            <a:ext cx="53035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3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Работодатель публикует вакансию</a:t>
            </a:r>
            <a:endParaRPr lang="ru-RU" sz="13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3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Кандидат откликается и отслеживает статус</a:t>
            </a:r>
            <a:endParaRPr lang="ru-RU" sz="1300"/>
          </a:p>
        </p:txBody>
      </p:sp>
      <p:sp>
        <p:nvSpPr>
          <p:cNvPr id="1301" name="Текст 1301"/>
          <p:cNvSpPr txBox="1"/>
          <p:nvPr/>
        </p:nvSpPr>
        <p:spPr>
          <a:xfrm>
            <a:off x="6355080" y="525780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9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Актуальность профиля</a:t>
            </a:r>
            <a:endParaRPr lang="ru-RU" sz="1900"/>
          </a:p>
        </p:txBody>
      </p:sp>
      <p:sp>
        <p:nvSpPr>
          <p:cNvPr id="1401" name="Текст 1401"/>
          <p:cNvSpPr txBox="1"/>
          <p:nvPr/>
        </p:nvSpPr>
        <p:spPr>
          <a:xfrm>
            <a:off x="6355080" y="5669280"/>
            <a:ext cx="53035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3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Работодатель выдаёт короткое задание</a:t>
            </a:r>
            <a:endParaRPr lang="ru-RU" sz="13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3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Кандидат отправляет ответ и получает оценку</a:t>
            </a:r>
            <a:endParaRPr lang="ru-RU" sz="13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16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Интеграция с ФСП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Сервис работает и для кандидата без истории соревнований</a:t>
            </a:r>
            <a:endParaRPr lang="ru-RU" sz="1600"/>
          </a:p>
        </p:txBody>
      </p:sp>
      <p:pic>
        <p:nvPicPr>
          <p:cNvPr id="1200" name="fsp-light.png" descr="Скриншот прототипа на синтетических данных"/>
          <p:cNvPicPr>
            <a:picLocks noChangeAspect="1"/>
          </p:cNvPicPr>
          <p:nvPr/>
        </p:nvPicPr>
        <p:blipFill>
          <a:blip r:embed="rIdScepka1200"/>
          <a:stretch>
            <a:fillRect/>
          </a:stretch>
        </p:blipFill>
        <p:spPr>
          <a:xfrm>
            <a:off x="5218480" y="2148840"/>
            <a:ext cx="5793638" cy="4023360"/>
          </a:xfrm>
          <a:prstGeom prst="rect">
            <a:avLst/>
          </a:prstGeom>
        </p:spPr>
      </p:pic>
      <p:sp>
        <p:nvSpPr>
          <p:cNvPr id="1300" name="Текст 1300"/>
          <p:cNvSpPr txBox="1"/>
          <p:nvPr/>
        </p:nvSpPr>
        <p:spPr>
          <a:xfrm>
            <a:off x="594360" y="21945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В прототипе</a:t>
            </a:r>
            <a:endParaRPr lang="ru-RU" sz="1800"/>
          </a:p>
        </p:txBody>
      </p:sp>
      <p:sp>
        <p:nvSpPr>
          <p:cNvPr id="1400" name="Текст 1400"/>
          <p:cNvSpPr txBox="1"/>
          <p:nvPr/>
        </p:nvSpPr>
        <p:spPr>
          <a:xfrm>
            <a:off x="594360" y="269748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Связь с ID участника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Явно маркированное демо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Работа без истории соревнований</a:t>
            </a:r>
            <a:endParaRPr lang="ru-RU" sz="1400"/>
          </a:p>
        </p:txBody>
      </p:sp>
      <p:sp>
        <p:nvSpPr>
          <p:cNvPr id="1301" name="Текст 1301"/>
          <p:cNvSpPr txBox="1"/>
          <p:nvPr/>
        </p:nvSpPr>
        <p:spPr>
          <a:xfrm>
            <a:off x="594360" y="42062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После хакатона</a:t>
            </a:r>
            <a:endParaRPr lang="ru-RU" sz="1800"/>
          </a:p>
        </p:txBody>
      </p:sp>
      <p:sp>
        <p:nvSpPr>
          <p:cNvPr id="1401" name="Текст 1401"/>
          <p:cNvSpPr txBox="1"/>
          <p:nvPr/>
        </p:nvSpPr>
        <p:spPr>
          <a:xfrm>
            <a:off x="594360" y="470916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Адаптер реестра достижений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Keycloak / OIDC для ФСП ID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Проверка источника и прав доступа</a:t>
            </a:r>
            <a:endParaRPr lang="ru-RU" sz="14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17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Компонентная архитектура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Модели подключаются через OpenAI-совместимый API</a:t>
            </a:r>
            <a:endParaRPr lang="ru-RU" sz="1600"/>
          </a:p>
        </p:txBody>
      </p:sp>
      <p:sp>
        <p:nvSpPr>
          <p:cNvPr id="1100" name="Карточка 1100"/>
          <p:cNvSpPr/>
          <p:nvPr/>
        </p:nvSpPr>
        <p:spPr>
          <a:xfrm>
            <a:off x="548640" y="21488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0" name="Текст 1300"/>
          <p:cNvSpPr txBox="1"/>
          <p:nvPr/>
        </p:nvSpPr>
        <p:spPr>
          <a:xfrm>
            <a:off x="777240" y="23774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Frontend</a:t>
            </a:r>
            <a:endParaRPr lang="ru-RU" sz="2000"/>
          </a:p>
        </p:txBody>
      </p:sp>
      <p:sp>
        <p:nvSpPr>
          <p:cNvPr id="1400" name="Текст 1400"/>
          <p:cNvSpPr txBox="1"/>
          <p:nvPr/>
        </p:nvSpPr>
        <p:spPr>
          <a:xfrm>
            <a:off x="777240" y="30175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React, TypeScript, адаптивный интерфейс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Nginx отдаёт сборку и проксирует API</a:t>
            </a:r>
            <a:endParaRPr lang="ru-RU" sz="1400"/>
          </a:p>
        </p:txBody>
      </p:sp>
      <p:sp>
        <p:nvSpPr>
          <p:cNvPr id="1101" name="Карточка 1101"/>
          <p:cNvSpPr/>
          <p:nvPr/>
        </p:nvSpPr>
        <p:spPr>
          <a:xfrm>
            <a:off x="6240779" y="21488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1" name="Текст 1301"/>
          <p:cNvSpPr txBox="1"/>
          <p:nvPr/>
        </p:nvSpPr>
        <p:spPr>
          <a:xfrm>
            <a:off x="6469379" y="23774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API</a:t>
            </a:r>
            <a:endParaRPr lang="ru-RU" sz="2000"/>
          </a:p>
        </p:txBody>
      </p:sp>
      <p:sp>
        <p:nvSpPr>
          <p:cNvPr id="1401" name="Текст 1401"/>
          <p:cNvSpPr txBox="1"/>
          <p:nvPr/>
        </p:nvSpPr>
        <p:spPr>
          <a:xfrm>
            <a:off x="6469379" y="30175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FastAPI: профили, согласия, документы, приглашения и переписка</a:t>
            </a:r>
            <a:endParaRPr lang="ru-RU" sz="1400"/>
          </a:p>
        </p:txBody>
      </p:sp>
      <p:sp>
        <p:nvSpPr>
          <p:cNvPr id="1102" name="Карточка 1102"/>
          <p:cNvSpPr/>
          <p:nvPr/>
        </p:nvSpPr>
        <p:spPr>
          <a:xfrm>
            <a:off x="548640" y="43205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2" name="Текст 1302"/>
          <p:cNvSpPr txBox="1"/>
          <p:nvPr/>
        </p:nvSpPr>
        <p:spPr>
          <a:xfrm>
            <a:off x="777240" y="45491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ML-сервисы</a:t>
            </a:r>
            <a:endParaRPr lang="ru-RU" sz="2000"/>
          </a:p>
        </p:txBody>
      </p:sp>
      <p:sp>
        <p:nvSpPr>
          <p:cNvPr id="1402" name="Текст 1402"/>
          <p:cNvSpPr txBox="1"/>
          <p:nvPr/>
        </p:nvSpPr>
        <p:spPr>
          <a:xfrm>
            <a:off x="777240" y="51892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taskgen: задания, оценка и доказательства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matcher: фильтр, векторы, порядок и объяснения</a:t>
            </a:r>
            <a:endParaRPr lang="ru-RU" sz="1400"/>
          </a:p>
        </p:txBody>
      </p:sp>
      <p:sp>
        <p:nvSpPr>
          <p:cNvPr id="1103" name="Карточка 1103"/>
          <p:cNvSpPr/>
          <p:nvPr/>
        </p:nvSpPr>
        <p:spPr>
          <a:xfrm>
            <a:off x="6240779" y="43205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3" name="Текст 1303"/>
          <p:cNvSpPr txBox="1"/>
          <p:nvPr/>
        </p:nvSpPr>
        <p:spPr>
          <a:xfrm>
            <a:off x="6469379" y="45491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Хранение и исполнение</a:t>
            </a:r>
            <a:endParaRPr lang="ru-RU" sz="2000"/>
          </a:p>
        </p:txBody>
      </p:sp>
      <p:sp>
        <p:nvSpPr>
          <p:cNvPr id="1403" name="Текст 1403"/>
          <p:cNvSpPr txBox="1"/>
          <p:nvPr/>
        </p:nvSpPr>
        <p:spPr>
          <a:xfrm>
            <a:off x="6469379" y="51892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PostgreSQL + pgvector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Отдельные runtime-роли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Файлы резюме и песочница Piston</a:t>
            </a:r>
            <a:endParaRPr lang="ru-RU" sz="14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18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Модели — выбор конфигурации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Локальная проверка архитектуры и облачная конфигурация для бизнеса</a:t>
            </a:r>
            <a:endParaRPr lang="ru-RU" sz="1600"/>
          </a:p>
        </p:txBody>
      </p:sp>
      <p:sp>
        <p:nvSpPr>
          <p:cNvPr id="1100" name="Карточка 1100"/>
          <p:cNvSpPr/>
          <p:nvPr/>
        </p:nvSpPr>
        <p:spPr>
          <a:xfrm>
            <a:off x="548640" y="214884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0" name="Текст 1300"/>
          <p:cNvSpPr txBox="1"/>
          <p:nvPr/>
        </p:nvSpPr>
        <p:spPr>
          <a:xfrm>
            <a:off x="777240" y="2377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GigaChat 3.1</a:t>
            </a:r>
            <a:endParaRPr lang="ru-RU" sz="2000"/>
          </a:p>
        </p:txBody>
      </p:sp>
      <p:sp>
        <p:nvSpPr>
          <p:cNvPr id="1400" name="Текст 1400"/>
          <p:cNvSpPr txBox="1"/>
          <p:nvPr/>
        </p:nvSpPr>
        <p:spPr>
          <a:xfrm>
            <a:off x="77724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Локальная тестовая модель через Ollama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Проверены скорость и ограничения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Отказы генерации не превращаются в провал кандидата</a:t>
            </a:r>
            <a:endParaRPr lang="ru-RU" sz="1600"/>
          </a:p>
        </p:txBody>
      </p:sp>
      <p:sp>
        <p:nvSpPr>
          <p:cNvPr id="1101" name="Карточка 1101"/>
          <p:cNvSpPr/>
          <p:nvPr/>
        </p:nvSpPr>
        <p:spPr>
          <a:xfrm>
            <a:off x="4343400" y="214884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1" name="Текст 1301"/>
          <p:cNvSpPr txBox="1"/>
          <p:nvPr/>
        </p:nvSpPr>
        <p:spPr>
          <a:xfrm>
            <a:off x="4572000" y="2377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DeepSeek Flash</a:t>
            </a:r>
            <a:endParaRPr lang="ru-RU" sz="2000"/>
          </a:p>
        </p:txBody>
      </p:sp>
      <p:sp>
        <p:nvSpPr>
          <p:cNvPr id="1401" name="Текст 1401"/>
          <p:cNvSpPr txBox="1"/>
          <p:nvPr/>
        </p:nvSpPr>
        <p:spPr>
          <a:xfrm>
            <a:off x="457200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Облачные замеры генерации, судьи и подбора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Выше качество проверяемых объяснений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Провайдер каждой роли задаётся окружением</a:t>
            </a:r>
            <a:endParaRPr lang="ru-RU" sz="1600"/>
          </a:p>
        </p:txBody>
      </p:sp>
      <p:sp>
        <p:nvSpPr>
          <p:cNvPr id="1102" name="Карточка 1102"/>
          <p:cNvSpPr/>
          <p:nvPr/>
        </p:nvSpPr>
        <p:spPr>
          <a:xfrm>
            <a:off x="8138160" y="214884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2" name="Текст 1302"/>
          <p:cNvSpPr txBox="1"/>
          <p:nvPr/>
        </p:nvSpPr>
        <p:spPr>
          <a:xfrm>
            <a:off x="8366760" y="2377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bge-m3</a:t>
            </a:r>
            <a:endParaRPr lang="ru-RU" sz="2000"/>
          </a:p>
        </p:txBody>
      </p:sp>
      <p:sp>
        <p:nvSpPr>
          <p:cNvPr id="1402" name="Текст 1402"/>
          <p:cNvSpPr txBox="1"/>
          <p:nvPr/>
        </p:nvSpPr>
        <p:spPr>
          <a:xfrm>
            <a:off x="836676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Русский и английский текст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1024-мерные векторы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Облачный endpoint позволяет развернуть стенд без GPU</a:t>
            </a:r>
            <a:endParaRPr lang="ru-RU" sz="16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19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 работающего прототипа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Механика, интеграция, браузер и синтетический масштаб проверяются отдельно</a:t>
            </a:r>
            <a:endParaRPr lang="ru-RU" sz="1600"/>
          </a:p>
        </p:txBody>
      </p:sp>
      <p:sp>
        <p:nvSpPr>
          <p:cNvPr id="1100" name="Карточка 1100"/>
          <p:cNvSpPr/>
          <p:nvPr/>
        </p:nvSpPr>
        <p:spPr>
          <a:xfrm>
            <a:off x="548640" y="21488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0" name="Текст 1300"/>
          <p:cNvSpPr txBox="1"/>
          <p:nvPr/>
        </p:nvSpPr>
        <p:spPr>
          <a:xfrm>
            <a:off x="777240" y="23774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Сервисы</a:t>
            </a:r>
            <a:endParaRPr lang="ru-RU" sz="2000"/>
          </a:p>
        </p:txBody>
      </p:sp>
      <p:sp>
        <p:nvSpPr>
          <p:cNvPr id="1400" name="Текст 1400"/>
          <p:cNvSpPr txBox="1"/>
          <p:nvPr/>
        </p:nvSpPr>
        <p:spPr>
          <a:xfrm>
            <a:off x="777240" y="30175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40 тестов API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155 тестов matcher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19 проверок бренд-системы</a:t>
            </a:r>
            <a:endParaRPr lang="ru-RU" sz="1400"/>
          </a:p>
        </p:txBody>
      </p:sp>
      <p:sp>
        <p:nvSpPr>
          <p:cNvPr id="1101" name="Карточка 1101"/>
          <p:cNvSpPr/>
          <p:nvPr/>
        </p:nvSpPr>
        <p:spPr>
          <a:xfrm>
            <a:off x="6240779" y="21488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1" name="Текст 1301"/>
          <p:cNvSpPr txBox="1"/>
          <p:nvPr/>
        </p:nvSpPr>
        <p:spPr>
          <a:xfrm>
            <a:off x="6469379" y="23774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Браузер</a:t>
            </a:r>
            <a:endParaRPr lang="ru-RU" sz="2000"/>
          </a:p>
        </p:txBody>
      </p:sp>
      <p:sp>
        <p:nvSpPr>
          <p:cNvPr id="1401" name="Текст 1401"/>
          <p:cNvSpPr txBox="1"/>
          <p:nvPr/>
        </p:nvSpPr>
        <p:spPr>
          <a:xfrm>
            <a:off x="6469379" y="30175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6 сценариев Playwright без повторов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5 проверок Vitest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Production proxy и refresh</a:t>
            </a:r>
            <a:endParaRPr lang="ru-RU" sz="1400"/>
          </a:p>
        </p:txBody>
      </p:sp>
      <p:sp>
        <p:nvSpPr>
          <p:cNvPr id="1102" name="Карточка 1102"/>
          <p:cNvSpPr/>
          <p:nvPr/>
        </p:nvSpPr>
        <p:spPr>
          <a:xfrm>
            <a:off x="548640" y="43205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2" name="Текст 1302"/>
          <p:cNvSpPr txBox="1"/>
          <p:nvPr/>
        </p:nvSpPr>
        <p:spPr>
          <a:xfrm>
            <a:off x="777240" y="45491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Демоданные</a:t>
            </a:r>
            <a:endParaRPr lang="ru-RU" sz="2000"/>
          </a:p>
        </p:txBody>
      </p:sp>
      <p:sp>
        <p:nvSpPr>
          <p:cNvPr id="1402" name="Текст 1402"/>
          <p:cNvSpPr txBox="1"/>
          <p:nvPr/>
        </p:nvSpPr>
        <p:spPr>
          <a:xfrm>
            <a:off x="777240" y="51892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1200 согласованных профилей Faker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Повторное наполнение не добавило записей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Векторный прогон рассмотрел 183 профиля</a:t>
            </a:r>
            <a:endParaRPr lang="ru-RU" sz="1400"/>
          </a:p>
        </p:txBody>
      </p:sp>
      <p:sp>
        <p:nvSpPr>
          <p:cNvPr id="1103" name="Карточка 1103"/>
          <p:cNvSpPr/>
          <p:nvPr/>
        </p:nvSpPr>
        <p:spPr>
          <a:xfrm>
            <a:off x="6240779" y="4320540"/>
            <a:ext cx="5417820" cy="18973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3" name="Текст 1303"/>
          <p:cNvSpPr txBox="1"/>
          <p:nvPr/>
        </p:nvSpPr>
        <p:spPr>
          <a:xfrm>
            <a:off x="6469379" y="4549140"/>
            <a:ext cx="49606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7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Граница доказательства</a:t>
            </a:r>
            <a:endParaRPr lang="ru-RU" sz="1700"/>
          </a:p>
        </p:txBody>
      </p:sp>
      <p:sp>
        <p:nvSpPr>
          <p:cNvPr id="1403" name="Текст 1403"/>
          <p:cNvSpPr txBox="1"/>
          <p:nvPr/>
        </p:nvSpPr>
        <p:spPr>
          <a:xfrm>
            <a:off x="6469379" y="5189220"/>
            <a:ext cx="4960620" cy="8458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Большой прогон проверял векторную стадию без LLM-ранжирования</a:t>
            </a:r>
            <a:endParaRPr lang="ru-RU" sz="14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4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Синтетика не доказывает качество реального найма</a:t>
            </a:r>
            <a:endParaRPr lang="ru-RU" sz="14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20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Текст 1001"/>
          <p:cNvSpPr txBox="1"/>
          <p:nvPr/>
        </p:nvSpPr>
        <p:spPr>
          <a:xfrm>
            <a:off x="530352" y="886968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Развитие и бизнес-гипотеза</a:t>
            </a:r>
            <a:endParaRPr lang="ru-RU" sz="2800"/>
          </a:p>
        </p:txBody>
      </p:sp>
      <p:sp>
        <p:nvSpPr>
          <p:cNvPr id="1002" name="Текст 1002"/>
          <p:cNvSpPr txBox="1"/>
          <p:nvPr/>
        </p:nvSpPr>
        <p:spPr>
          <a:xfrm>
            <a:off x="530352" y="150876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Пилот должен подтвердить пользу для работодателя и кандидата</a:t>
            </a:r>
            <a:endParaRPr lang="ru-RU" sz="1600"/>
          </a:p>
        </p:txBody>
      </p:sp>
      <p:sp>
        <p:nvSpPr>
          <p:cNvPr id="1100" name="Карточка 1100"/>
          <p:cNvSpPr/>
          <p:nvPr/>
        </p:nvSpPr>
        <p:spPr>
          <a:xfrm>
            <a:off x="548640" y="214884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0" name="Текст 1300"/>
          <p:cNvSpPr txBox="1"/>
          <p:nvPr/>
        </p:nvSpPr>
        <p:spPr>
          <a:xfrm>
            <a:off x="777240" y="2377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Пилот</a:t>
            </a:r>
            <a:endParaRPr lang="ru-RU" sz="2000"/>
          </a:p>
        </p:txBody>
      </p:sp>
      <p:sp>
        <p:nvSpPr>
          <p:cNvPr id="1400" name="Текст 1400"/>
          <p:cNvSpPr txBox="1"/>
          <p:nvPr/>
        </p:nvSpPr>
        <p:spPr>
          <a:xfrm>
            <a:off x="77724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Экспертная разметка реальных пар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Релевантность верхней выдачи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Время до первого полезного контакта</a:t>
            </a:r>
            <a:endParaRPr lang="ru-RU" sz="1600"/>
          </a:p>
        </p:txBody>
      </p:sp>
      <p:sp>
        <p:nvSpPr>
          <p:cNvPr id="1101" name="Карточка 1101"/>
          <p:cNvSpPr/>
          <p:nvPr/>
        </p:nvSpPr>
        <p:spPr>
          <a:xfrm>
            <a:off x="4343400" y="214884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1" name="Текст 1301"/>
          <p:cNvSpPr txBox="1"/>
          <p:nvPr/>
        </p:nvSpPr>
        <p:spPr>
          <a:xfrm>
            <a:off x="4572000" y="2377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Продукт</a:t>
            </a:r>
            <a:endParaRPr lang="ru-RU" sz="2000"/>
          </a:p>
        </p:txBody>
      </p:sp>
      <p:sp>
        <p:nvSpPr>
          <p:cNvPr id="1401" name="Текст 1401"/>
          <p:cNvSpPr txBox="1"/>
          <p:nvPr/>
        </p:nvSpPr>
        <p:spPr>
          <a:xfrm>
            <a:off x="457200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Реестр ФСП и ФСП ID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Интеграция с ATS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Модерация работодателей и вакансий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Больше заданий с параметрами, меняющими ответ</a:t>
            </a:r>
            <a:endParaRPr lang="ru-RU" sz="1600"/>
          </a:p>
        </p:txBody>
      </p:sp>
      <p:sp>
        <p:nvSpPr>
          <p:cNvPr id="1102" name="Карточка 1102"/>
          <p:cNvSpPr/>
          <p:nvPr/>
        </p:nvSpPr>
        <p:spPr>
          <a:xfrm>
            <a:off x="8138160" y="214884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83D1"/>
            </a:solidFill>
          </a:ln>
        </p:spPr>
      </p:sp>
      <p:sp>
        <p:nvSpPr>
          <p:cNvPr id="1302" name="Текст 1302"/>
          <p:cNvSpPr txBox="1"/>
          <p:nvPr/>
        </p:nvSpPr>
        <p:spPr>
          <a:xfrm>
            <a:off x="8366760" y="2377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Бизнес</a:t>
            </a:r>
            <a:endParaRPr lang="ru-RU" sz="2000"/>
          </a:p>
        </p:txBody>
      </p:sp>
      <p:sp>
        <p:nvSpPr>
          <p:cNvPr id="1402" name="Текст 1402"/>
          <p:cNvSpPr txBox="1"/>
          <p:nvPr/>
        </p:nvSpPr>
        <p:spPr>
          <a:xfrm>
            <a:off x="836676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B2B-подписка работодателя — гипотеза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Профиль кандидата и подтверждение навыков</a:t>
            </a:r>
            <a:endParaRPr lang="ru-RU" sz="160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16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Стоимость моделей измеряется по токенам реальных сценариев</a:t>
            </a:r>
            <a:endParaRPr lang="ru-RU" sz="1600"/>
          </a:p>
        </p:txBody>
      </p:sp>
      <p:sp>
        <p:nvSpPr>
          <p:cNvPr id="1500" name="Текст 1500"/>
          <p:cNvSpPr txBox="1"/>
          <p:nvPr/>
        </p:nvSpPr>
        <p:spPr>
          <a:xfrm>
            <a:off x="11430000" y="6473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0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21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/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  <p:sp>
        <p:nvSpPr>
          <p:cNvPr id="1001" name="Текст 1001"/>
          <p:cNvSpPr txBox="1"/>
          <p:nvPr/>
        </p:nvSpPr>
        <p:spPr>
          <a:xfrm>
            <a:off x="594360" y="283464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6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Сцепка</a:t>
            </a:r>
            <a:endParaRPr lang="ru-RU" sz="6400"/>
          </a:p>
        </p:txBody>
      </p:sp>
      <p:sp>
        <p:nvSpPr>
          <p:cNvPr id="1002" name="Текст 1002"/>
          <p:cNvSpPr txBox="1"/>
          <p:nvPr/>
        </p:nvSpPr>
        <p:spPr>
          <a:xfrm>
            <a:off x="594360" y="3977639"/>
            <a:ext cx="589788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ru-RU" sz="24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Подтверждённые навыки → подходящая команда → предложение с конкретными условиями</a:t>
            </a:r>
            <a:endParaRPr lang="ru-RU" sz="2400"/>
          </a:p>
        </p:txBody>
      </p:sp>
      <p:sp>
        <p:nvSpPr>
          <p:cNvPr id="1003" name="Текст 1003"/>
          <p:cNvSpPr txBox="1"/>
          <p:nvPr/>
        </p:nvSpPr>
        <p:spPr>
          <a:xfrm>
            <a:off x="594360" y="5623560"/>
            <a:ext cx="64008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3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Код: github.com/IDaniil228/hackathon</a:t>
            </a:r>
            <a:endParaRPr lang="ru-RU" sz="13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3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Стенд: scepka.rokokol.art — адрес для развёртывания</a:t>
            </a:r>
            <a:endParaRPr lang="ru-RU" sz="1300"/>
          </a:p>
          <a:p>
            <a:pPr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ru-RU" sz="13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Документация: docs.scepka.rokokol.art — после публикации</a:t>
            </a:r>
            <a:endParaRPr lang="ru-RU" sz="1300"/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632</Words>
  <Application>Microsoft Macintosh PowerPoint</Application>
  <PresentationFormat>Широкоэкранный</PresentationFormat>
  <Paragraphs>187</Paragraphs>
  <Slides>22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Ирина</cp:lastModifiedBy>
  <cp:revision>97</cp:revision>
  <dcterms:created xsi:type="dcterms:W3CDTF">2023-05-15T07:36:23Z</dcterms:created>
  <dcterms:modified xsi:type="dcterms:W3CDTF">2026-10-02T08:27:06Z</dcterms:modified>
</cp:coreProperties>
</file>